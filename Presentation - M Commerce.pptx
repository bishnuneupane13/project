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ilda Display" panose="020B0604020202020204" charset="0"/>
      <p:regular r:id="rId12"/>
    </p:embeddedFont>
    <p:embeddedFont>
      <p:font typeface="HK Grotesk Bold" panose="020B0604020202020204" charset="0"/>
      <p:regular r:id="rId13"/>
    </p:embeddedFont>
    <p:embeddedFont>
      <p:font typeface="HK Grotesk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857" autoAdjust="0"/>
  </p:normalViewPr>
  <p:slideViewPr>
    <p:cSldViewPr>
      <p:cViewPr>
        <p:scale>
          <a:sx n="50" d="100"/>
          <a:sy n="50" d="100"/>
        </p:scale>
        <p:origin x="51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734675" y="2649274"/>
            <a:ext cx="6886575" cy="2260613"/>
            <a:chOff x="0" y="0"/>
            <a:chExt cx="9182100" cy="3014151"/>
          </a:xfrm>
        </p:grpSpPr>
        <p:sp>
          <p:nvSpPr>
            <p:cNvPr id="6" name="TextBox 6"/>
            <p:cNvSpPr txBox="1"/>
            <p:nvPr/>
          </p:nvSpPr>
          <p:spPr>
            <a:xfrm>
              <a:off x="0" y="1401675"/>
              <a:ext cx="91821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M Commerce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9182100" cy="934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r>
                <a:rPr lang="en-US" sz="42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Introduction to M Commerce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36952" y="7627618"/>
            <a:ext cx="7066897" cy="167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3114" dirty="0">
                <a:solidFill>
                  <a:srgbClr val="1A1A1A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Prepared By: Kabya Thapa</a:t>
            </a:r>
          </a:p>
          <a:p>
            <a:pPr algn="l">
              <a:lnSpc>
                <a:spcPts val="4359"/>
              </a:lnSpc>
            </a:pPr>
            <a:r>
              <a:rPr lang="en-US" sz="3114" dirty="0">
                <a:solidFill>
                  <a:srgbClr val="1A1A1A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Grade: 12-D</a:t>
            </a:r>
          </a:p>
          <a:p>
            <a:pPr marL="0" lvl="0" indent="0" algn="l">
              <a:lnSpc>
                <a:spcPts val="4359"/>
              </a:lnSpc>
            </a:pPr>
            <a:r>
              <a:rPr lang="en-US" sz="3114" dirty="0">
                <a:solidFill>
                  <a:srgbClr val="1A1A1A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Roll no: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795337"/>
            <a:ext cx="8324850" cy="4019615"/>
            <a:chOff x="0" y="171450"/>
            <a:chExt cx="11099800" cy="5359488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87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>
                <a:lnSpc>
                  <a:spcPts val="3900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HK Grotesk Light" panose="020B0604020202020204" charset="0"/>
                </a:rPr>
                <a:t>Buying and selling using mobile devices</a:t>
              </a:r>
              <a:endParaRPr lang="en-US" sz="3000" dirty="0">
                <a:solidFill>
                  <a:srgbClr val="1A1A1A"/>
                </a:solidFill>
                <a:latin typeface="HK Grotesk Light" panose="020B0604020202020204" charset="0"/>
                <a:ea typeface="HK Grotesk Light"/>
                <a:cs typeface="HK Grotesk Light"/>
                <a:sym typeface="HK Grotesk Light"/>
              </a:endParaRPr>
            </a:p>
            <a:p>
              <a:pPr marL="457200" lvl="0" indent="-457200">
                <a:lnSpc>
                  <a:spcPts val="39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Uses smartphones and tablets</a:t>
              </a:r>
            </a:p>
            <a:p>
              <a:pPr marL="457200" lvl="0" indent="-457200">
                <a:lnSpc>
                  <a:spcPts val="39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Works through apps and mobile websites   </a:t>
              </a:r>
              <a:endParaRPr lang="en-US" sz="3000" dirty="0">
                <a:solidFill>
                  <a:srgbClr val="1A1A1A"/>
                </a:solidFill>
                <a:latin typeface="HK Grotesk Light" panose="020B0604020202020204" charset="0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What is M Commerce?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31660">
            <a:off x="14626252" y="5564869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6886575" cy="3566794"/>
            <a:chOff x="0" y="0"/>
            <a:chExt cx="9182100" cy="4755726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Mobile Commerce Share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473026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Represents mobile's significant role in e-commerce growth.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381613"/>
              <a:ext cx="91821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"50%"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860615" y="666750"/>
            <a:ext cx="6884085" cy="3566794"/>
            <a:chOff x="0" y="0"/>
            <a:chExt cx="9178781" cy="4755726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78781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Online Sales Growth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473026"/>
              <a:ext cx="9178781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Indicates the annual increase in mobile commerce sales.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81613"/>
              <a:ext cx="9178781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"25%"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Key Features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2857500"/>
            <a:ext cx="8324850" cy="3276600"/>
            <a:chOff x="0" y="0"/>
            <a:chExt cx="11099800" cy="43688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Essential aspects of M Commerce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110998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 dirty="0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Mobility and portability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 dirty="0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Fast and easy transactions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 dirty="0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Multiple mobile payment options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 dirty="0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Instant notifications and updates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Benefits of M Commerce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5143500"/>
            <a:ext cx="8324850" cy="3276600"/>
            <a:chOff x="0" y="0"/>
            <a:chExt cx="11099800" cy="43688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Advantages for Businesses and Consumers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110998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Convenient and time-saving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Can be used anytime, anywhere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Supports cashless payments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Helps in businesses reach more customers</a:t>
              </a: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Challenges in M Commerce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73677" y="2545556"/>
            <a:ext cx="8324850" cy="3803072"/>
            <a:chOff x="0" y="-9525"/>
            <a:chExt cx="11099800" cy="5070762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obstacles facing mobile commerce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11099800" cy="3321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Security and privacy risks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Internet connectivity issues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Small screen size limitations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High risk of payment fraud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Lack of technical knowledge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68288">
            <a:off x="14275228" y="-6577016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296400" y="1562100"/>
            <a:ext cx="4010025" cy="4476750"/>
            <a:chOff x="0" y="0"/>
            <a:chExt cx="909703" cy="10155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9703" cy="1015582"/>
            </a:xfrm>
            <a:custGeom>
              <a:avLst/>
              <a:gdLst/>
              <a:ahLst/>
              <a:cxnLst/>
              <a:rect l="l" t="t" r="r" b="b"/>
              <a:pathLst>
                <a:path w="909703" h="1015582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8357"/>
                  </a:lnTo>
                  <a:cubicBezTo>
                    <a:pt x="909703" y="981007"/>
                    <a:pt x="875127" y="1015582"/>
                    <a:pt x="832477" y="1015582"/>
                  </a:cubicBezTo>
                  <a:lnTo>
                    <a:pt x="77226" y="1015582"/>
                  </a:lnTo>
                  <a:cubicBezTo>
                    <a:pt x="34575" y="1015582"/>
                    <a:pt x="0" y="981007"/>
                    <a:pt x="0" y="938357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4"/>
              <a:stretch>
                <a:fillRect t="-252" b="-25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3611225" y="1595097"/>
            <a:ext cx="4010025" cy="4443753"/>
            <a:chOff x="0" y="0"/>
            <a:chExt cx="909703" cy="10080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9703" cy="1008097"/>
            </a:xfrm>
            <a:custGeom>
              <a:avLst/>
              <a:gdLst/>
              <a:ahLst/>
              <a:cxnLst/>
              <a:rect l="l" t="t" r="r" b="b"/>
              <a:pathLst>
                <a:path w="909703" h="1008097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0871"/>
                  </a:lnTo>
                  <a:cubicBezTo>
                    <a:pt x="909703" y="973522"/>
                    <a:pt x="875127" y="1008097"/>
                    <a:pt x="832477" y="1008097"/>
                  </a:cubicBezTo>
                  <a:lnTo>
                    <a:pt x="77226" y="1008097"/>
                  </a:lnTo>
                  <a:cubicBezTo>
                    <a:pt x="34575" y="1008097"/>
                    <a:pt x="0" y="973522"/>
                    <a:pt x="0" y="93087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5"/>
              <a:stretch>
                <a:fillRect t="-342" b="-34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666750" y="838200"/>
            <a:ext cx="6886575" cy="339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Popular Examples of M Commerce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96400" y="6934200"/>
            <a:ext cx="4010025" cy="1408099"/>
            <a:chOff x="0" y="0"/>
            <a:chExt cx="5346700" cy="1877465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53457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Amazon App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20944"/>
              <a:ext cx="5346700" cy="956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leading platform for mobile shopping convenience.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11225" y="6934200"/>
            <a:ext cx="4010025" cy="1408099"/>
            <a:chOff x="0" y="0"/>
            <a:chExt cx="5346700" cy="1877465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53457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Apple Pay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20944"/>
              <a:ext cx="5346700" cy="956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Enables quick and secure mobile payment transactions.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CAECDD2-9EDE-B574-F568-643804BE165A}"/>
              </a:ext>
            </a:extLst>
          </p:cNvPr>
          <p:cNvSpPr txBox="1"/>
          <p:nvPr/>
        </p:nvSpPr>
        <p:spPr>
          <a:xfrm>
            <a:off x="914400" y="4838700"/>
            <a:ext cx="68865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HK Grotesk Light" panose="020B0604020202020204" charset="0"/>
              </a:rPr>
              <a:t>Online shopping apps (</a:t>
            </a:r>
            <a:r>
              <a:rPr lang="en-US" sz="3000" dirty="0" err="1">
                <a:latin typeface="HK Grotesk Light" panose="020B0604020202020204" charset="0"/>
              </a:rPr>
              <a:t>Daraz</a:t>
            </a:r>
            <a:r>
              <a:rPr lang="en-US" sz="3000" dirty="0">
                <a:latin typeface="HK Grotesk Light" panose="020B0604020202020204" charset="0"/>
              </a:rPr>
              <a:t>, Amazon)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HK Grotesk Light" panose="020B0604020202020204" charset="0"/>
              </a:rPr>
              <a:t>Mobile wallets (</a:t>
            </a:r>
            <a:r>
              <a:rPr lang="en-US" sz="3000" dirty="0" err="1">
                <a:latin typeface="HK Grotesk Light" panose="020B0604020202020204" charset="0"/>
              </a:rPr>
              <a:t>eSewa</a:t>
            </a:r>
            <a:r>
              <a:rPr lang="en-US" sz="3000" dirty="0">
                <a:latin typeface="HK Grotesk Light" panose="020B0604020202020204" charset="0"/>
              </a:rPr>
              <a:t>, Khalti, </a:t>
            </a:r>
            <a:r>
              <a:rPr lang="en-US" sz="3000" dirty="0" err="1">
                <a:latin typeface="HK Grotesk Light" panose="020B0604020202020204" charset="0"/>
              </a:rPr>
              <a:t>Paypal</a:t>
            </a:r>
            <a:r>
              <a:rPr lang="en-US" sz="3000" dirty="0">
                <a:latin typeface="HK Grotesk Light" panose="020B060402020202020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HK Grotesk Light" panose="020B0604020202020204" charset="0"/>
              </a:rPr>
              <a:t>Food delivery apps (</a:t>
            </a:r>
            <a:r>
              <a:rPr lang="en-US" sz="3000" dirty="0" err="1">
                <a:latin typeface="HK Grotesk Light" panose="020B0604020202020204" charset="0"/>
              </a:rPr>
              <a:t>Foodmandu</a:t>
            </a:r>
            <a:r>
              <a:rPr lang="en-US" sz="3000" dirty="0">
                <a:latin typeface="HK Grotesk Light" panose="020B0604020202020204" charset="0"/>
              </a:rPr>
              <a:t>, Uber eats)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HK Grotesk Light" panose="020B0604020202020204" charset="0"/>
              </a:rPr>
              <a:t>Ride sharing apps (</a:t>
            </a:r>
            <a:r>
              <a:rPr lang="en-US" sz="3000" dirty="0" err="1">
                <a:latin typeface="HK Grotesk Light" panose="020B0604020202020204" charset="0"/>
              </a:rPr>
              <a:t>Pathao</a:t>
            </a:r>
            <a:r>
              <a:rPr lang="en-US" sz="3000" dirty="0">
                <a:latin typeface="HK Grotesk Light" panose="020B0604020202020204" charset="0"/>
              </a:rPr>
              <a:t>, Uber)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795338"/>
            <a:ext cx="8324850" cy="3905465"/>
            <a:chOff x="0" y="171450"/>
            <a:chExt cx="11099800" cy="5207285"/>
          </a:xfrm>
        </p:grpSpPr>
        <p:sp>
          <p:nvSpPr>
            <p:cNvPr id="5" name="TextBox 5"/>
            <p:cNvSpPr txBox="1"/>
            <p:nvPr/>
          </p:nvSpPr>
          <p:spPr>
            <a:xfrm>
              <a:off x="0" y="2057399"/>
              <a:ext cx="11099800" cy="3321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 algn="l">
                <a:lnSpc>
                  <a:spcPts val="39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Growth of mobile payments and digital wallets</a:t>
              </a:r>
            </a:p>
            <a:p>
              <a:pPr marL="457200" lvl="0" indent="-457200" algn="l">
                <a:lnSpc>
                  <a:spcPts val="39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Use of AI for personalized shopping</a:t>
              </a:r>
            </a:p>
            <a:p>
              <a:pPr marL="457200" lvl="0" indent="-457200" algn="l">
                <a:lnSpc>
                  <a:spcPts val="39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Faster transactions with 5G technology</a:t>
              </a:r>
            </a:p>
            <a:p>
              <a:pPr marL="457200" lvl="0" indent="-457200" algn="l">
                <a:lnSpc>
                  <a:spcPts val="39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Increased security with biometric authentication</a:t>
              </a:r>
            </a:p>
            <a:p>
              <a:pPr marL="457200" lvl="0" indent="-457200" algn="l">
                <a:lnSpc>
                  <a:spcPts val="39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Expansion of M-Commerce in rural areas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Future Trends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795337"/>
            <a:ext cx="8324850" cy="2890836"/>
            <a:chOff x="0" y="171450"/>
            <a:chExt cx="11099800" cy="3854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2057398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dirty="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 Commerce is rapidly growing, offering significant convenience but also facing various challenges as technology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Summary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00848">
            <a:off x="12064338" y="5278644"/>
            <a:ext cx="13730046" cy="12931207"/>
          </a:xfrm>
          <a:custGeom>
            <a:avLst/>
            <a:gdLst/>
            <a:ahLst/>
            <a:cxnLst/>
            <a:rect l="l" t="t" r="r" b="b"/>
            <a:pathLst>
              <a:path w="13730046" h="12931207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5836470" y="4132424"/>
            <a:ext cx="13641902" cy="123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74"/>
              </a:lnSpc>
            </a:pPr>
            <a:r>
              <a:rPr lang="en-US" sz="9274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You!!!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257</Words>
  <Application>Microsoft Office PowerPoint</Application>
  <PresentationFormat>Custom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HK Grotesk Bold</vt:lpstr>
      <vt:lpstr>HK Grotesk Light</vt:lpstr>
      <vt:lpstr>Arial</vt:lpstr>
      <vt:lpstr>Gilda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 Commerce</dc:title>
  <dc:description>Presentation - M Commerce</dc:description>
  <cp:lastModifiedBy>Kabya Thapa</cp:lastModifiedBy>
  <cp:revision>17</cp:revision>
  <dcterms:created xsi:type="dcterms:W3CDTF">2006-08-16T00:00:00Z</dcterms:created>
  <dcterms:modified xsi:type="dcterms:W3CDTF">2026-02-04T17:35:47Z</dcterms:modified>
  <dc:identifier>DAHAYINhIAo</dc:identifier>
</cp:coreProperties>
</file>