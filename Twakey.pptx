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TC Motter Corpus Semicondensed" charset="1" panose="04020A05040802020202"/>
      <p:regular r:id="rId14"/>
    </p:embeddedFont>
    <p:embeddedFont>
      <p:font typeface="Rubik" charset="1" panose="00000000000000000000"/>
      <p:regular r:id="rId15"/>
    </p:embeddedFont>
    <p:embeddedFont>
      <p:font typeface="Rubik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6587588"/>
            <a:chOff x="0" y="0"/>
            <a:chExt cx="2192553" cy="1735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1735003"/>
            </a:xfrm>
            <a:custGeom>
              <a:avLst/>
              <a:gdLst/>
              <a:ahLst/>
              <a:cxnLst/>
              <a:rect r="r" b="b" t="t" l="l"/>
              <a:pathLst>
                <a:path h="1735003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97804"/>
                  </a:lnTo>
                  <a:cubicBezTo>
                    <a:pt x="2192553" y="1707669"/>
                    <a:pt x="2188634" y="1717131"/>
                    <a:pt x="2181658" y="1724107"/>
                  </a:cubicBezTo>
                  <a:cubicBezTo>
                    <a:pt x="2174682" y="1731083"/>
                    <a:pt x="2165220" y="1735003"/>
                    <a:pt x="2155354" y="1735003"/>
                  </a:cubicBezTo>
                  <a:lnTo>
                    <a:pt x="37199" y="1735003"/>
                  </a:lnTo>
                  <a:cubicBezTo>
                    <a:pt x="27333" y="1735003"/>
                    <a:pt x="17872" y="1731083"/>
                    <a:pt x="10895" y="1724107"/>
                  </a:cubicBezTo>
                  <a:cubicBezTo>
                    <a:pt x="3919" y="1717131"/>
                    <a:pt x="0" y="1707669"/>
                    <a:pt x="0" y="1697804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DAE9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92553" cy="1792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7559138"/>
            <a:ext cx="5448300" cy="2061112"/>
            <a:chOff x="0" y="0"/>
            <a:chExt cx="1434943" cy="5428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542844"/>
            </a:xfrm>
            <a:custGeom>
              <a:avLst/>
              <a:gdLst/>
              <a:ahLst/>
              <a:cxnLst/>
              <a:rect r="r" b="b" t="t" l="l"/>
              <a:pathLst>
                <a:path h="54284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486005"/>
                  </a:lnTo>
                  <a:cubicBezTo>
                    <a:pt x="1434943" y="517397"/>
                    <a:pt x="1409495" y="542844"/>
                    <a:pt x="1378104" y="542844"/>
                  </a:cubicBezTo>
                  <a:lnTo>
                    <a:pt x="56839" y="542844"/>
                  </a:lnTo>
                  <a:cubicBezTo>
                    <a:pt x="25448" y="542844"/>
                    <a:pt x="0" y="517397"/>
                    <a:pt x="0" y="48600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DAE9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434943" cy="599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66750"/>
            <a:ext cx="8324850" cy="8953500"/>
            <a:chOff x="0" y="0"/>
            <a:chExt cx="1066627" cy="11471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6627" cy="1147174"/>
            </a:xfrm>
            <a:custGeom>
              <a:avLst/>
              <a:gdLst/>
              <a:ahLst/>
              <a:cxnLst/>
              <a:rect r="r" b="b" t="t" l="l"/>
              <a:pathLst>
                <a:path h="1147174" w="1066627">
                  <a:moveTo>
                    <a:pt x="65098" y="0"/>
                  </a:moveTo>
                  <a:lnTo>
                    <a:pt x="1001529" y="0"/>
                  </a:lnTo>
                  <a:cubicBezTo>
                    <a:pt x="1018794" y="0"/>
                    <a:pt x="1035352" y="6859"/>
                    <a:pt x="1047561" y="19067"/>
                  </a:cubicBezTo>
                  <a:cubicBezTo>
                    <a:pt x="1059769" y="31275"/>
                    <a:pt x="1066627" y="47833"/>
                    <a:pt x="1066627" y="65098"/>
                  </a:cubicBezTo>
                  <a:lnTo>
                    <a:pt x="1066627" y="1082075"/>
                  </a:lnTo>
                  <a:cubicBezTo>
                    <a:pt x="1066627" y="1099340"/>
                    <a:pt x="1059769" y="1115898"/>
                    <a:pt x="1047561" y="1128107"/>
                  </a:cubicBezTo>
                  <a:cubicBezTo>
                    <a:pt x="1035352" y="1140315"/>
                    <a:pt x="1018794" y="1147174"/>
                    <a:pt x="1001529" y="1147174"/>
                  </a:cubicBezTo>
                  <a:lnTo>
                    <a:pt x="65098" y="1147174"/>
                  </a:lnTo>
                  <a:cubicBezTo>
                    <a:pt x="47833" y="1147174"/>
                    <a:pt x="31275" y="1140315"/>
                    <a:pt x="19067" y="1128107"/>
                  </a:cubicBezTo>
                  <a:cubicBezTo>
                    <a:pt x="6859" y="1115898"/>
                    <a:pt x="0" y="1099340"/>
                    <a:pt x="0" y="1082075"/>
                  </a:cubicBezTo>
                  <a:lnTo>
                    <a:pt x="0" y="65098"/>
                  </a:lnTo>
                  <a:cubicBezTo>
                    <a:pt x="0" y="47833"/>
                    <a:pt x="6859" y="31275"/>
                    <a:pt x="19067" y="19067"/>
                  </a:cubicBezTo>
                  <a:cubicBezTo>
                    <a:pt x="31275" y="6859"/>
                    <a:pt x="47833" y="0"/>
                    <a:pt x="6509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419850" y="7559138"/>
            <a:ext cx="2571750" cy="2061112"/>
            <a:chOff x="0" y="0"/>
            <a:chExt cx="677333" cy="5428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7333" cy="542844"/>
            </a:xfrm>
            <a:custGeom>
              <a:avLst/>
              <a:gdLst/>
              <a:ahLst/>
              <a:cxnLst/>
              <a:rect r="r" b="b" t="t" l="l"/>
              <a:pathLst>
                <a:path h="542844" w="677333">
                  <a:moveTo>
                    <a:pt x="120415" y="0"/>
                  </a:moveTo>
                  <a:lnTo>
                    <a:pt x="556919" y="0"/>
                  </a:lnTo>
                  <a:cubicBezTo>
                    <a:pt x="623422" y="0"/>
                    <a:pt x="677333" y="53912"/>
                    <a:pt x="677333" y="120415"/>
                  </a:cubicBezTo>
                  <a:lnTo>
                    <a:pt x="677333" y="422429"/>
                  </a:lnTo>
                  <a:cubicBezTo>
                    <a:pt x="677333" y="488933"/>
                    <a:pt x="623422" y="542844"/>
                    <a:pt x="556919" y="542844"/>
                  </a:cubicBezTo>
                  <a:lnTo>
                    <a:pt x="120415" y="542844"/>
                  </a:lnTo>
                  <a:cubicBezTo>
                    <a:pt x="88479" y="542844"/>
                    <a:pt x="57851" y="530158"/>
                    <a:pt x="35269" y="507576"/>
                  </a:cubicBezTo>
                  <a:cubicBezTo>
                    <a:pt x="12687" y="484993"/>
                    <a:pt x="0" y="454365"/>
                    <a:pt x="0" y="422429"/>
                  </a:cubicBezTo>
                  <a:lnTo>
                    <a:pt x="0" y="120415"/>
                  </a:lnTo>
                  <a:cubicBezTo>
                    <a:pt x="0" y="88479"/>
                    <a:pt x="12687" y="57851"/>
                    <a:pt x="35269" y="35269"/>
                  </a:cubicBezTo>
                  <a:cubicBezTo>
                    <a:pt x="57851" y="12687"/>
                    <a:pt x="88479" y="0"/>
                    <a:pt x="120415" y="0"/>
                  </a:cubicBezTo>
                  <a:close/>
                </a:path>
              </a:pathLst>
            </a:custGeom>
            <a:solidFill>
              <a:srgbClr val="1A73E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77333" cy="599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800000">
            <a:off x="7248914" y="8142019"/>
            <a:ext cx="913622" cy="895350"/>
            <a:chOff x="0" y="0"/>
            <a:chExt cx="635000" cy="622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BECDD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45747" y="1187741"/>
            <a:ext cx="6916790" cy="241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>
                <a:solidFill>
                  <a:srgbClr val="1A73E8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Internet of Things (IoT)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5747" y="8143924"/>
            <a:ext cx="4655627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399">
                <a:solidFill>
                  <a:srgbClr val="0B1E39"/>
                </a:solidFill>
                <a:latin typeface="Rubik"/>
                <a:ea typeface="Rubik"/>
                <a:cs typeface="Rubik"/>
                <a:sym typeface="Rubik"/>
              </a:rPr>
              <a:t>Presented by Pratyush Niraula, </a:t>
            </a:r>
          </a:p>
          <a:p>
            <a:pPr algn="l" marL="0" indent="0" lvl="0">
              <a:lnSpc>
                <a:spcPts val="3359"/>
              </a:lnSpc>
            </a:pPr>
            <a:r>
              <a:rPr lang="en-US" sz="2399">
                <a:solidFill>
                  <a:srgbClr val="0B1E39"/>
                </a:solidFill>
                <a:latin typeface="Rubik"/>
                <a:ea typeface="Rubik"/>
                <a:cs typeface="Rubik"/>
                <a:sym typeface="Rubik"/>
              </a:rPr>
              <a:t> February 4,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934200"/>
            <a:ext cx="18288000" cy="3352800"/>
            <a:chOff x="0" y="0"/>
            <a:chExt cx="4816593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3042"/>
            </a:xfrm>
            <a:custGeom>
              <a:avLst/>
              <a:gdLst/>
              <a:ahLst/>
              <a:cxnLst/>
              <a:rect r="r" b="b" t="t" l="l"/>
              <a:pathLst>
                <a:path h="8830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A73E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DAE9F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05025" y="1562100"/>
            <a:ext cx="12639675" cy="2567960"/>
            <a:chOff x="0" y="0"/>
            <a:chExt cx="16852900" cy="342394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33350"/>
              <a:ext cx="16852900" cy="1466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20"/>
                </a:lnSpc>
                <a:spcBef>
                  <a:spcPct val="0"/>
                </a:spcBef>
              </a:pPr>
              <a:r>
                <a:rPr lang="en-US" b="true" sz="6600" strike="noStrike" u="none">
                  <a:solidFill>
                    <a:srgbClr val="1A73E8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What is IoT?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339850"/>
              <a:ext cx="168529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0B1E39"/>
                  </a:solidFill>
                  <a:latin typeface="Rubik Bold"/>
                  <a:ea typeface="Rubik Bold"/>
                  <a:cs typeface="Rubik Bold"/>
                  <a:sym typeface="Rubik Bold"/>
                </a:rPr>
                <a:t>Connecting everyday objects seamlessly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330477"/>
              <a:ext cx="16852900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1A73E8"/>
                  </a:solidFill>
                  <a:latin typeface="Rubik"/>
                  <a:ea typeface="Rubik"/>
                  <a:cs typeface="Rubik"/>
                  <a:sym typeface="Rubik"/>
                </a:rPr>
                <a:t>IoT means connecting everyday objects to the internet so they can send and receive data, which helps make life easier, smarter, and more efficient for everyone.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2105025" y="7829550"/>
            <a:ext cx="913622" cy="895350"/>
            <a:chOff x="0" y="0"/>
            <a:chExt cx="635000" cy="6223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0B1E3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934200"/>
            <a:ext cx="18288000" cy="3352800"/>
            <a:chOff x="0" y="0"/>
            <a:chExt cx="4816593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3042"/>
            </a:xfrm>
            <a:custGeom>
              <a:avLst/>
              <a:gdLst/>
              <a:ahLst/>
              <a:cxnLst/>
              <a:rect r="r" b="b" t="t" l="l"/>
              <a:pathLst>
                <a:path h="8830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BECDD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1A73E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05025" y="1562100"/>
            <a:ext cx="14077950" cy="1405890"/>
            <a:chOff x="0" y="0"/>
            <a:chExt cx="18770600" cy="187452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33350"/>
              <a:ext cx="18770600" cy="1466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20"/>
                </a:lnSpc>
                <a:spcBef>
                  <a:spcPct val="0"/>
                </a:spcBef>
              </a:pPr>
              <a:r>
                <a:rPr lang="en-US" b="true" sz="6600" strike="noStrike" u="none">
                  <a:solidFill>
                    <a:srgbClr val="41A7F1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How IoT Works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339850"/>
              <a:ext cx="187706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BECDDB"/>
                  </a:solidFill>
                  <a:latin typeface="Rubik Bold"/>
                  <a:ea typeface="Rubik Bold"/>
                  <a:cs typeface="Rubik Bold"/>
                  <a:sym typeface="Rubik Bold"/>
                </a:rPr>
                <a:t>Understanding the data flow process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05025" y="5143500"/>
            <a:ext cx="4010025" cy="2686050"/>
            <a:chOff x="0" y="0"/>
            <a:chExt cx="5346700" cy="3581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811530"/>
              <a:ext cx="5346700" cy="2769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BECDDB"/>
                  </a:solidFill>
                  <a:latin typeface="Rubik"/>
                  <a:ea typeface="Rubik"/>
                  <a:cs typeface="Rubik"/>
                  <a:sym typeface="Rubik"/>
                </a:rPr>
                <a:t>Sensors collect data from the environment, detecting changes in conditions such as temperature, humidity, or movement.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53467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BECDDB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SENSORS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38988" y="5143500"/>
            <a:ext cx="4010025" cy="2266950"/>
            <a:chOff x="0" y="0"/>
            <a:chExt cx="5346700" cy="30226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811530"/>
              <a:ext cx="5346700" cy="2211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BECDDB"/>
                  </a:solidFill>
                  <a:latin typeface="Rubik"/>
                  <a:ea typeface="Rubik"/>
                  <a:cs typeface="Rubik"/>
                  <a:sym typeface="Rubik"/>
                </a:rPr>
                <a:t>The data collected by sensors is sent to the cloud, where it can be stored and analyzed for insights.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57150"/>
              <a:ext cx="53467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BECDDB"/>
                  </a:solidFill>
                  <a:latin typeface="Rubik Bold"/>
                  <a:ea typeface="Rubik Bold"/>
                  <a:cs typeface="Rubik Bold"/>
                  <a:sym typeface="Rubik Bold"/>
                </a:rPr>
                <a:t>CLOUD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72950" y="5143500"/>
            <a:ext cx="4010025" cy="3105150"/>
            <a:chOff x="0" y="0"/>
            <a:chExt cx="5346700" cy="414020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811530"/>
              <a:ext cx="5346700" cy="3328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BECDDB"/>
                  </a:solidFill>
                  <a:latin typeface="Rubik"/>
                  <a:ea typeface="Rubik"/>
                  <a:cs typeface="Rubik"/>
                  <a:sym typeface="Rubik"/>
                </a:rPr>
                <a:t>Users and devices receive information or commands back from the cloud, enabling real-time responses and actions based on data.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57150"/>
              <a:ext cx="53467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BECDDB"/>
                  </a:solidFill>
                  <a:latin typeface="Rubik Bold"/>
                  <a:ea typeface="Rubik Bold"/>
                  <a:cs typeface="Rubik Bold"/>
                  <a:sym typeface="Rubik Bold"/>
                </a:rPr>
                <a:t>INFORMATION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5295900"/>
            <a:ext cx="6886575" cy="4324350"/>
            <a:chOff x="0" y="0"/>
            <a:chExt cx="1066911" cy="6699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6911" cy="669955"/>
            </a:xfrm>
            <a:custGeom>
              <a:avLst/>
              <a:gdLst/>
              <a:ahLst/>
              <a:cxnLst/>
              <a:rect r="r" b="b" t="t" l="l"/>
              <a:pathLst>
                <a:path h="669955" w="1066911">
                  <a:moveTo>
                    <a:pt x="78694" y="0"/>
                  </a:moveTo>
                  <a:lnTo>
                    <a:pt x="988216" y="0"/>
                  </a:lnTo>
                  <a:cubicBezTo>
                    <a:pt x="1009087" y="0"/>
                    <a:pt x="1029104" y="8291"/>
                    <a:pt x="1043862" y="23049"/>
                  </a:cubicBezTo>
                  <a:cubicBezTo>
                    <a:pt x="1058620" y="37807"/>
                    <a:pt x="1066911" y="57823"/>
                    <a:pt x="1066911" y="78694"/>
                  </a:cubicBezTo>
                  <a:lnTo>
                    <a:pt x="1066911" y="591261"/>
                  </a:lnTo>
                  <a:cubicBezTo>
                    <a:pt x="1066911" y="612132"/>
                    <a:pt x="1058620" y="632148"/>
                    <a:pt x="1043862" y="646906"/>
                  </a:cubicBezTo>
                  <a:cubicBezTo>
                    <a:pt x="1029104" y="661664"/>
                    <a:pt x="1009087" y="669955"/>
                    <a:pt x="988216" y="669955"/>
                  </a:cubicBezTo>
                  <a:lnTo>
                    <a:pt x="78694" y="669955"/>
                  </a:lnTo>
                  <a:cubicBezTo>
                    <a:pt x="57823" y="669955"/>
                    <a:pt x="37807" y="661664"/>
                    <a:pt x="23049" y="646906"/>
                  </a:cubicBezTo>
                  <a:cubicBezTo>
                    <a:pt x="8291" y="632148"/>
                    <a:pt x="0" y="612132"/>
                    <a:pt x="0" y="591261"/>
                  </a:cubicBezTo>
                  <a:lnTo>
                    <a:pt x="0" y="78694"/>
                  </a:lnTo>
                  <a:cubicBezTo>
                    <a:pt x="0" y="57823"/>
                    <a:pt x="8291" y="37807"/>
                    <a:pt x="23049" y="23049"/>
                  </a:cubicBezTo>
                  <a:cubicBezTo>
                    <a:pt x="37807" y="8291"/>
                    <a:pt x="57823" y="0"/>
                    <a:pt x="78694" y="0"/>
                  </a:cubicBezTo>
                  <a:close/>
                </a:path>
              </a:pathLst>
            </a:custGeom>
            <a:blipFill>
              <a:blip r:embed="rId2"/>
              <a:stretch>
                <a:fillRect l="-436" t="0" r="-43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666750"/>
            <a:ext cx="6886575" cy="4324350"/>
            <a:chOff x="0" y="0"/>
            <a:chExt cx="1066911" cy="6699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6911" cy="669955"/>
            </a:xfrm>
            <a:custGeom>
              <a:avLst/>
              <a:gdLst/>
              <a:ahLst/>
              <a:cxnLst/>
              <a:rect r="r" b="b" t="t" l="l"/>
              <a:pathLst>
                <a:path h="669955" w="1066911">
                  <a:moveTo>
                    <a:pt x="78694" y="0"/>
                  </a:moveTo>
                  <a:lnTo>
                    <a:pt x="988216" y="0"/>
                  </a:lnTo>
                  <a:cubicBezTo>
                    <a:pt x="1009087" y="0"/>
                    <a:pt x="1029104" y="8291"/>
                    <a:pt x="1043862" y="23049"/>
                  </a:cubicBezTo>
                  <a:cubicBezTo>
                    <a:pt x="1058620" y="37807"/>
                    <a:pt x="1066911" y="57823"/>
                    <a:pt x="1066911" y="78694"/>
                  </a:cubicBezTo>
                  <a:lnTo>
                    <a:pt x="1066911" y="591261"/>
                  </a:lnTo>
                  <a:cubicBezTo>
                    <a:pt x="1066911" y="612132"/>
                    <a:pt x="1058620" y="632148"/>
                    <a:pt x="1043862" y="646906"/>
                  </a:cubicBezTo>
                  <a:cubicBezTo>
                    <a:pt x="1029104" y="661664"/>
                    <a:pt x="1009087" y="669955"/>
                    <a:pt x="988216" y="669955"/>
                  </a:cubicBezTo>
                  <a:lnTo>
                    <a:pt x="78694" y="669955"/>
                  </a:lnTo>
                  <a:cubicBezTo>
                    <a:pt x="57823" y="669955"/>
                    <a:pt x="37807" y="661664"/>
                    <a:pt x="23049" y="646906"/>
                  </a:cubicBezTo>
                  <a:cubicBezTo>
                    <a:pt x="8291" y="632148"/>
                    <a:pt x="0" y="612132"/>
                    <a:pt x="0" y="591261"/>
                  </a:cubicBezTo>
                  <a:lnTo>
                    <a:pt x="0" y="78694"/>
                  </a:lnTo>
                  <a:cubicBezTo>
                    <a:pt x="0" y="57823"/>
                    <a:pt x="8291" y="37807"/>
                    <a:pt x="23049" y="23049"/>
                  </a:cubicBezTo>
                  <a:cubicBezTo>
                    <a:pt x="37807" y="8291"/>
                    <a:pt x="57823" y="0"/>
                    <a:pt x="78694" y="0"/>
                  </a:cubicBezTo>
                  <a:close/>
                </a:path>
              </a:pathLst>
            </a:custGeom>
            <a:blipFill>
              <a:blip r:embed="rId3"/>
              <a:stretch>
                <a:fillRect l="-436" t="0" r="-43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666750" y="8724900"/>
            <a:ext cx="913622" cy="895350"/>
            <a:chOff x="0" y="0"/>
            <a:chExt cx="635000" cy="622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BECDD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666750"/>
            <a:ext cx="8324850" cy="4206240"/>
            <a:chOff x="0" y="0"/>
            <a:chExt cx="11099800" cy="560832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33350"/>
              <a:ext cx="11099800" cy="2800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20"/>
                </a:lnSpc>
                <a:spcBef>
                  <a:spcPct val="0"/>
                </a:spcBef>
              </a:pPr>
              <a:r>
                <a:rPr lang="en-US" b="true" sz="6600" strike="noStrike" u="none">
                  <a:solidFill>
                    <a:srgbClr val="41A7F1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Everyday IoT Applications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046730"/>
              <a:ext cx="110998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BECDDB"/>
                  </a:solidFill>
                  <a:latin typeface="Rubik Bold"/>
                  <a:ea typeface="Rubik Bold"/>
                  <a:cs typeface="Rubik Bold"/>
                  <a:sym typeface="Rubik Bold"/>
                </a:rPr>
                <a:t>Exploring how technology enhances life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956050"/>
              <a:ext cx="11099800" cy="165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BECDDB"/>
                  </a:solidFill>
                  <a:latin typeface="Rubik"/>
                  <a:ea typeface="Rubik"/>
                  <a:cs typeface="Rubik"/>
                  <a:sym typeface="Rubik"/>
                </a:rPr>
                <a:t>IoT technologies transform our daily routines, enabling </a:t>
              </a:r>
              <a:r>
                <a:rPr lang="en-US" b="true" sz="2400">
                  <a:solidFill>
                    <a:srgbClr val="BECDDB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smart homes, wearables, and smart cities</a:t>
              </a:r>
              <a:r>
                <a:rPr lang="en-US" sz="2400">
                  <a:solidFill>
                    <a:srgbClr val="BECDDB"/>
                  </a:solidFill>
                  <a:latin typeface="Rubik"/>
                  <a:ea typeface="Rubik"/>
                  <a:cs typeface="Rubik"/>
                  <a:sym typeface="Rubik"/>
                </a:rPr>
                <a:t> to improve convenience, efficiency, and quality of life.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934200"/>
            <a:ext cx="18288000" cy="3352800"/>
            <a:chOff x="0" y="0"/>
            <a:chExt cx="4816593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3042"/>
            </a:xfrm>
            <a:custGeom>
              <a:avLst/>
              <a:gdLst/>
              <a:ahLst/>
              <a:cxnLst/>
              <a:rect r="r" b="b" t="t" l="l"/>
              <a:pathLst>
                <a:path h="8830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BECDD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1A73E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05025" y="1562100"/>
            <a:ext cx="14077950" cy="1405890"/>
            <a:chOff x="0" y="0"/>
            <a:chExt cx="18770600" cy="187452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33350"/>
              <a:ext cx="18770600" cy="1466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20"/>
                </a:lnSpc>
                <a:spcBef>
                  <a:spcPct val="0"/>
                </a:spcBef>
              </a:pPr>
              <a:r>
                <a:rPr lang="en-US" b="true" sz="6600" strike="noStrike" u="none">
                  <a:solidFill>
                    <a:srgbClr val="41A7F1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Key Components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339850"/>
              <a:ext cx="187706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BECDDB"/>
                  </a:solidFill>
                  <a:latin typeface="Rubik Bold"/>
                  <a:ea typeface="Rubik Bold"/>
                  <a:cs typeface="Rubik Bold"/>
                  <a:sym typeface="Rubik Bold"/>
                </a:rPr>
                <a:t>Essential elements of IoT systems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05025" y="5143500"/>
            <a:ext cx="4010025" cy="2686050"/>
            <a:chOff x="0" y="0"/>
            <a:chExt cx="5346700" cy="3581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811530"/>
              <a:ext cx="5346700" cy="2769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BECDDB"/>
                  </a:solidFill>
                  <a:latin typeface="Rubik"/>
                  <a:ea typeface="Rubik"/>
                  <a:cs typeface="Rubik"/>
                  <a:sym typeface="Rubik"/>
                </a:rPr>
                <a:t>Sensors collect data from the environment, enabling devices to interact with their surroundings effectively and intelligently.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53467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BECDDB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SENSORS AND DEVICES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38988" y="5143500"/>
            <a:ext cx="4010025" cy="3105150"/>
            <a:chOff x="0" y="0"/>
            <a:chExt cx="5346700" cy="41402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811530"/>
              <a:ext cx="5346700" cy="3328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BECDDB"/>
                  </a:solidFill>
                  <a:latin typeface="Rubik"/>
                  <a:ea typeface="Rubik"/>
                  <a:cs typeface="Rubik"/>
                  <a:sym typeface="Rubik"/>
                </a:rPr>
                <a:t>Networks such as Wi-Fi and Bluetooth facilitate communication between devices, allowing data to be transmitted easily and promptly.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57150"/>
              <a:ext cx="53467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BECDDB"/>
                  </a:solidFill>
                  <a:latin typeface="Rubik Bold"/>
                  <a:ea typeface="Rubik Bold"/>
                  <a:cs typeface="Rubik Bold"/>
                  <a:sym typeface="Rubik Bold"/>
                </a:rPr>
                <a:t>CONNECTIVITY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72950" y="5143500"/>
            <a:ext cx="4010025" cy="3105150"/>
            <a:chOff x="0" y="0"/>
            <a:chExt cx="5346700" cy="414020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811530"/>
              <a:ext cx="5346700" cy="3328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BECDDB"/>
                  </a:solidFill>
                  <a:latin typeface="Rubik"/>
                  <a:ea typeface="Rubik"/>
                  <a:cs typeface="Rubik"/>
                  <a:sym typeface="Rubik"/>
                </a:rPr>
                <a:t>Cloud servers analyze the collected data, providing insights and enabling informed decisions while enhancing system functionality.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57150"/>
              <a:ext cx="53467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BECDDB"/>
                  </a:solidFill>
                  <a:latin typeface="Rubik Bold"/>
                  <a:ea typeface="Rubik Bold"/>
                  <a:cs typeface="Rubik Bold"/>
                  <a:sym typeface="Rubik Bold"/>
                </a:rPr>
                <a:t>DATA PROCESSING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934200"/>
            <a:ext cx="18288000" cy="3352800"/>
            <a:chOff x="0" y="0"/>
            <a:chExt cx="4816593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3042"/>
            </a:xfrm>
            <a:custGeom>
              <a:avLst/>
              <a:gdLst/>
              <a:ahLst/>
              <a:cxnLst/>
              <a:rect r="r" b="b" t="t" l="l"/>
              <a:pathLst>
                <a:path h="8830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BECDD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1A73E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05025" y="1562100"/>
            <a:ext cx="6886575" cy="3524250"/>
            <a:chOff x="0" y="0"/>
            <a:chExt cx="9182100" cy="46990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11530"/>
              <a:ext cx="9182100" cy="3887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BECDDB"/>
                  </a:solidFill>
                  <a:latin typeface="Rubik"/>
                  <a:ea typeface="Rubik"/>
                  <a:cs typeface="Rubik"/>
                  <a:sym typeface="Rubik"/>
                </a:rPr>
                <a:t>Convenience and automation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BECDDB"/>
                  </a:solidFill>
                  <a:latin typeface="Rubik"/>
                  <a:ea typeface="Rubik"/>
                  <a:cs typeface="Rubik"/>
                  <a:sym typeface="Rubik"/>
                </a:rPr>
                <a:t>Improved efficiency and cost savings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BECDDB"/>
                  </a:solidFill>
                  <a:latin typeface="Rubik"/>
                  <a:ea typeface="Rubik"/>
                  <a:cs typeface="Rubik"/>
                  <a:sym typeface="Rubik"/>
                </a:rPr>
                <a:t>Better health and safety monitoring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BECDDB"/>
                  </a:solidFill>
                  <a:latin typeface="Rubik"/>
                  <a:ea typeface="Rubik"/>
                  <a:cs typeface="Rubik"/>
                  <a:sym typeface="Rubik"/>
                </a:rPr>
                <a:t>The integration of IoT into daily life enhances user experiences, streamlining tasks and increasing productivity while ensuring safety and comfort in various environments.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91821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BECDDB"/>
                  </a:solidFill>
                  <a:latin typeface="Rubik Bold"/>
                  <a:ea typeface="Rubik Bold"/>
                  <a:cs typeface="Rubik Bold"/>
                  <a:sym typeface="Rubik Bold"/>
                </a:rPr>
                <a:t>BENEFITS OF IOT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1562100"/>
            <a:ext cx="6886575" cy="3943350"/>
            <a:chOff x="0" y="0"/>
            <a:chExt cx="9182100" cy="52578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811530"/>
              <a:ext cx="9182100" cy="4446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BECDDB"/>
                  </a:solidFill>
                  <a:latin typeface="Rubik"/>
                  <a:ea typeface="Rubik"/>
                  <a:cs typeface="Rubik"/>
                  <a:sym typeface="Rubik"/>
                </a:rPr>
                <a:t>Privacy and security concerns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BECDDB"/>
                  </a:solidFill>
                  <a:latin typeface="Rubik"/>
                  <a:ea typeface="Rubik"/>
                  <a:cs typeface="Rubik"/>
                  <a:sym typeface="Rubik"/>
                </a:rPr>
                <a:t>High cost of devices and infrastructure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BECDDB"/>
                  </a:solidFill>
                  <a:latin typeface="Rubik"/>
                  <a:ea typeface="Rubik"/>
                  <a:cs typeface="Rubik"/>
                  <a:sym typeface="Rubik"/>
                </a:rPr>
                <a:t>Complexity in managing many devices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BECDDB"/>
                  </a:solidFill>
                  <a:latin typeface="Rubik"/>
                  <a:ea typeface="Rubik"/>
                  <a:cs typeface="Rubik"/>
                  <a:sym typeface="Rubik"/>
                </a:rPr>
                <a:t>Despite its advantages, IoT faces significant hurdles, including safeguarding user data and managing the financial investment required to build and maintain interconnected systems.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91821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BECDDB"/>
                  </a:solidFill>
                  <a:latin typeface="Rubik Bold"/>
                  <a:ea typeface="Rubik Bold"/>
                  <a:cs typeface="Rubik Bold"/>
                  <a:sym typeface="Rubik Bold"/>
                </a:rPr>
                <a:t>CHALLENGES OF IOT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2105025" y="7829550"/>
            <a:ext cx="913622" cy="895350"/>
            <a:chOff x="0" y="0"/>
            <a:chExt cx="635000" cy="622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BECDD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934200"/>
            <a:ext cx="18288000" cy="3352800"/>
            <a:chOff x="0" y="0"/>
            <a:chExt cx="4816593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3042"/>
            </a:xfrm>
            <a:custGeom>
              <a:avLst/>
              <a:gdLst/>
              <a:ahLst/>
              <a:cxnLst/>
              <a:rect r="r" b="b" t="t" l="l"/>
              <a:pathLst>
                <a:path h="8830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A73E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DAE9F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05025" y="1562100"/>
            <a:ext cx="14077950" cy="2767965"/>
            <a:chOff x="0" y="0"/>
            <a:chExt cx="18770600" cy="369062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52400"/>
              <a:ext cx="18770600" cy="330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359"/>
                </a:lnSpc>
              </a:pPr>
              <a:r>
                <a:rPr lang="en-US" sz="7799">
                  <a:solidFill>
                    <a:srgbClr val="1A73E8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"By 2025, over 75 billion devices"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155950"/>
              <a:ext cx="187706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0B1E39"/>
                  </a:solidFill>
                  <a:latin typeface="Rubik Bold"/>
                  <a:ea typeface="Rubik Bold"/>
                  <a:cs typeface="Rubik Bold"/>
                  <a:sym typeface="Rubik Bold"/>
                </a:rPr>
                <a:t>– INDUSTRY FORECAST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2105025" y="7829550"/>
            <a:ext cx="913622" cy="895350"/>
            <a:chOff x="0" y="0"/>
            <a:chExt cx="635000" cy="622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0B1E3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934200"/>
            <a:ext cx="18288000" cy="3352800"/>
            <a:chOff x="0" y="0"/>
            <a:chExt cx="4816593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3042"/>
            </a:xfrm>
            <a:custGeom>
              <a:avLst/>
              <a:gdLst/>
              <a:ahLst/>
              <a:cxnLst/>
              <a:rect r="r" b="b" t="t" l="l"/>
              <a:pathLst>
                <a:path h="8830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A73E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DAE9F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05025" y="1428750"/>
            <a:ext cx="12639675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6600">
                <a:solidFill>
                  <a:srgbClr val="1A73E8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Thank You for Exploring the Internet of Things!</a:t>
            </a:r>
          </a:p>
        </p:txBody>
      </p:sp>
      <p:grpSp>
        <p:nvGrpSpPr>
          <p:cNvPr name="Group 9" id="9"/>
          <p:cNvGrpSpPr/>
          <p:nvPr/>
        </p:nvGrpSpPr>
        <p:grpSpPr>
          <a:xfrm rot="-10800000">
            <a:off x="2105025" y="7829550"/>
            <a:ext cx="913622" cy="895350"/>
            <a:chOff x="0" y="0"/>
            <a:chExt cx="635000" cy="622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1A73E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Internet of Things (IoT)</dc:description>
  <dc:identifier>DAHAXn-eRAM</dc:identifier>
  <dcterms:modified xsi:type="dcterms:W3CDTF">2011-08-01T06:04:30Z</dcterms:modified>
  <cp:revision>1</cp:revision>
  <dc:title>Presentation - Internet of Things (IoT)</dc:title>
</cp:coreProperties>
</file>