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lear Sans Bold" panose="020B0604020202020204" charset="0"/>
      <p:regular r:id="rId12"/>
    </p:embeddedFont>
    <p:embeddedFont>
      <p:font typeface="Tenor Sans" panose="020B0604020202020204" charset="0"/>
      <p:regular r:id="rId13"/>
    </p:embeddedFont>
    <p:embeddedFont>
      <p:font typeface="Calibri" panose="020F0502020204030204" pitchFamily="34" charset="0"/>
      <p:regular r:id="rId14"/>
      <p:bold r:id="rId15"/>
      <p:italic r:id="rId16"/>
      <p:boldItalic r:id="rId17"/>
    </p:embeddedFont>
    <p:embeddedFont>
      <p:font typeface="Clear Sans Medium" panose="020B0604020202020204" charset="0"/>
      <p:regular r:id="rId18"/>
    </p:embeddedFont>
    <p:embeddedFont>
      <p:font typeface="Clear Sans"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6" d="100"/>
          <a:sy n="56" d="100"/>
        </p:scale>
        <p:origin x="61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grpSp>
        <p:nvGrpSpPr>
          <p:cNvPr id="2" name="Group 2"/>
          <p:cNvGrpSpPr/>
          <p:nvPr/>
        </p:nvGrpSpPr>
        <p:grpSpPr>
          <a:xfrm>
            <a:off x="666750" y="4229113"/>
            <a:ext cx="9763125" cy="3838439"/>
            <a:chOff x="0" y="0"/>
            <a:chExt cx="13017500" cy="5117919"/>
          </a:xfrm>
        </p:grpSpPr>
        <p:sp>
          <p:nvSpPr>
            <p:cNvPr id="3" name="TextBox 3"/>
            <p:cNvSpPr txBox="1"/>
            <p:nvPr/>
          </p:nvSpPr>
          <p:spPr>
            <a:xfrm>
              <a:off x="0" y="190500"/>
              <a:ext cx="13017500" cy="3721100"/>
            </a:xfrm>
            <a:prstGeom prst="rect">
              <a:avLst/>
            </a:prstGeom>
          </p:spPr>
          <p:txBody>
            <a:bodyPr lIns="0" tIns="0" rIns="0" bIns="0" rtlCol="0" anchor="t">
              <a:spAutoFit/>
            </a:bodyPr>
            <a:lstStyle/>
            <a:p>
              <a:pPr marL="0" lvl="0" indent="0" algn="l">
                <a:lnSpc>
                  <a:spcPts val="10500"/>
                </a:lnSpc>
              </a:pPr>
              <a:r>
                <a:rPr lang="en-US" sz="10500" spc="-210">
                  <a:solidFill>
                    <a:srgbClr val="D0E6FC"/>
                  </a:solidFill>
                  <a:latin typeface="Tenor Sans"/>
                  <a:ea typeface="Tenor Sans"/>
                  <a:cs typeface="Tenor Sans"/>
                  <a:sym typeface="Tenor Sans"/>
                </a:rPr>
                <a:t>Virtual Reality (VR)</a:t>
              </a:r>
            </a:p>
          </p:txBody>
        </p:sp>
        <p:sp>
          <p:nvSpPr>
            <p:cNvPr id="4" name="TextBox 4"/>
            <p:cNvSpPr txBox="1"/>
            <p:nvPr/>
          </p:nvSpPr>
          <p:spPr>
            <a:xfrm>
              <a:off x="0" y="4421644"/>
              <a:ext cx="13017500" cy="696275"/>
            </a:xfrm>
            <a:prstGeom prst="rect">
              <a:avLst/>
            </a:prstGeom>
          </p:spPr>
          <p:txBody>
            <a:bodyPr lIns="0" tIns="0" rIns="0" bIns="0" rtlCol="0" anchor="t">
              <a:spAutoFit/>
            </a:bodyPr>
            <a:lstStyle/>
            <a:p>
              <a:pPr marL="0" lvl="0" indent="0" algn="l">
                <a:lnSpc>
                  <a:spcPts val="4480"/>
                </a:lnSpc>
                <a:spcBef>
                  <a:spcPct val="0"/>
                </a:spcBef>
              </a:pPr>
              <a:r>
                <a:rPr lang="en-US" sz="3200">
                  <a:solidFill>
                    <a:srgbClr val="D0E6FC"/>
                  </a:solidFill>
                  <a:latin typeface="Clear Sans"/>
                  <a:ea typeface="Clear Sans"/>
                  <a:cs typeface="Clear Sans"/>
                  <a:sym typeface="Clear Sans"/>
                </a:rPr>
                <a:t>AN INTRODUCTION FOR CLASS 12 STUDENTS</a:t>
              </a:r>
            </a:p>
          </p:txBody>
        </p:sp>
      </p:grpSp>
      <p:grpSp>
        <p:nvGrpSpPr>
          <p:cNvPr id="5" name="Group 5"/>
          <p:cNvGrpSpPr/>
          <p:nvPr/>
        </p:nvGrpSpPr>
        <p:grpSpPr>
          <a:xfrm>
            <a:off x="12172950" y="0"/>
            <a:ext cx="6115050" cy="10287000"/>
            <a:chOff x="0" y="0"/>
            <a:chExt cx="947381" cy="1593725"/>
          </a:xfrm>
        </p:grpSpPr>
        <p:sp>
          <p:nvSpPr>
            <p:cNvPr id="6" name="Freeform 6"/>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sp>
      </p:grpSp>
      <p:sp>
        <p:nvSpPr>
          <p:cNvPr id="7" name="Freeform 7"/>
          <p:cNvSpPr/>
          <p:nvPr/>
        </p:nvSpPr>
        <p:spPr>
          <a:xfrm>
            <a:off x="8774635" y="7396104"/>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2A6A"/>
        </a:solidFill>
        <a:effectLst/>
      </p:bgPr>
    </p:bg>
    <p:spTree>
      <p:nvGrpSpPr>
        <p:cNvPr id="1" name=""/>
        <p:cNvGrpSpPr/>
        <p:nvPr/>
      </p:nvGrpSpPr>
      <p:grpSpPr>
        <a:xfrm>
          <a:off x="0" y="0"/>
          <a:ext cx="0" cy="0"/>
          <a:chOff x="0" y="0"/>
          <a:chExt cx="0" cy="0"/>
        </a:xfrm>
      </p:grpSpPr>
      <p:grpSp>
        <p:nvGrpSpPr>
          <p:cNvPr id="2" name="Group 2"/>
          <p:cNvGrpSpPr/>
          <p:nvPr/>
        </p:nvGrpSpPr>
        <p:grpSpPr>
          <a:xfrm>
            <a:off x="12172950" y="0"/>
            <a:ext cx="6115050" cy="10287000"/>
            <a:chOff x="0" y="0"/>
            <a:chExt cx="947381" cy="1593725"/>
          </a:xfrm>
        </p:grpSpPr>
        <p:sp>
          <p:nvSpPr>
            <p:cNvPr id="3" name="Freeform 3"/>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sp>
      </p:grpSp>
      <p:grpSp>
        <p:nvGrpSpPr>
          <p:cNvPr id="4" name="Group 4"/>
          <p:cNvGrpSpPr/>
          <p:nvPr/>
        </p:nvGrpSpPr>
        <p:grpSpPr>
          <a:xfrm>
            <a:off x="666750" y="1562100"/>
            <a:ext cx="9763125" cy="4102836"/>
            <a:chOff x="0" y="0"/>
            <a:chExt cx="13017500" cy="5470448"/>
          </a:xfrm>
        </p:grpSpPr>
        <p:sp>
          <p:nvSpPr>
            <p:cNvPr id="5" name="TextBox 5"/>
            <p:cNvSpPr txBox="1"/>
            <p:nvPr/>
          </p:nvSpPr>
          <p:spPr>
            <a:xfrm>
              <a:off x="0" y="3319799"/>
              <a:ext cx="13017500" cy="525145"/>
            </a:xfrm>
            <a:prstGeom prst="rect">
              <a:avLst/>
            </a:prstGeom>
          </p:spPr>
          <p:txBody>
            <a:bodyPr lIns="0" tIns="0" rIns="0" bIns="0" rtlCol="0" anchor="t">
              <a:spAutoFit/>
            </a:bodyPr>
            <a:lstStyle/>
            <a:p>
              <a:pPr marL="0" lvl="0" indent="0" algn="l">
                <a:lnSpc>
                  <a:spcPts val="3359"/>
                </a:lnSpc>
                <a:spcBef>
                  <a:spcPct val="0"/>
                </a:spcBef>
              </a:pPr>
              <a:r>
                <a:rPr lang="en-US" sz="2400" b="1">
                  <a:solidFill>
                    <a:srgbClr val="D0E6FC"/>
                  </a:solidFill>
                  <a:latin typeface="Clear Sans Bold"/>
                  <a:ea typeface="Clear Sans Bold"/>
                  <a:cs typeface="Clear Sans Bold"/>
                  <a:sym typeface="Clear Sans Bold"/>
                </a:rPr>
                <a:t>WHAT VR MEANS</a:t>
              </a:r>
            </a:p>
          </p:txBody>
        </p:sp>
        <p:sp>
          <p:nvSpPr>
            <p:cNvPr id="6" name="TextBox 6"/>
            <p:cNvSpPr txBox="1"/>
            <p:nvPr/>
          </p:nvSpPr>
          <p:spPr>
            <a:xfrm>
              <a:off x="0" y="4513617"/>
              <a:ext cx="13017500" cy="956831"/>
            </a:xfrm>
            <a:prstGeom prst="rect">
              <a:avLst/>
            </a:prstGeom>
          </p:spPr>
          <p:txBody>
            <a:bodyPr lIns="0" tIns="0" rIns="0" bIns="0" rtlCol="0" anchor="t">
              <a:spAutoFit/>
            </a:bodyPr>
            <a:lstStyle/>
            <a:p>
              <a:pPr marL="0" lvl="0" indent="0" algn="l">
                <a:lnSpc>
                  <a:spcPts val="2939"/>
                </a:lnSpc>
                <a:spcBef>
                  <a:spcPct val="0"/>
                </a:spcBef>
              </a:pPr>
              <a:r>
                <a:rPr lang="en-US" sz="2099">
                  <a:solidFill>
                    <a:srgbClr val="D0E6FC"/>
                  </a:solidFill>
                  <a:latin typeface="Clear Sans"/>
                  <a:ea typeface="Clear Sans"/>
                  <a:cs typeface="Clear Sans"/>
                  <a:sym typeface="Clear Sans"/>
                </a:rPr>
                <a:t>VR is a technology that creates a </a:t>
              </a:r>
              <a:r>
                <a:rPr lang="en-US" sz="2099" b="1">
                  <a:solidFill>
                    <a:srgbClr val="D0E6FC"/>
                  </a:solidFill>
                  <a:latin typeface="Clear Sans Bold"/>
                  <a:ea typeface="Clear Sans Bold"/>
                  <a:cs typeface="Clear Sans Bold"/>
                  <a:sym typeface="Clear Sans Bold"/>
                </a:rPr>
                <a:t>fully immersive simulated</a:t>
              </a:r>
              <a:r>
                <a:rPr lang="en-US" sz="2099">
                  <a:solidFill>
                    <a:srgbClr val="D0E6FC"/>
                  </a:solidFill>
                  <a:latin typeface="Clear Sans"/>
                  <a:ea typeface="Clear Sans"/>
                  <a:cs typeface="Clear Sans"/>
                  <a:sym typeface="Clear Sans"/>
                </a:rPr>
                <a:t> environment, allowing users to interact with digital worlds using specialized equipment.</a:t>
              </a:r>
            </a:p>
          </p:txBody>
        </p:sp>
        <p:sp>
          <p:nvSpPr>
            <p:cNvPr id="7" name="TextBox 7"/>
            <p:cNvSpPr txBox="1"/>
            <p:nvPr/>
          </p:nvSpPr>
          <p:spPr>
            <a:xfrm>
              <a:off x="0" y="0"/>
              <a:ext cx="13017500" cy="2815860"/>
            </a:xfrm>
            <a:prstGeom prst="rect">
              <a:avLst/>
            </a:prstGeom>
          </p:spPr>
          <p:txBody>
            <a:bodyPr lIns="0" tIns="0" rIns="0" bIns="0" rtlCol="0" anchor="t">
              <a:spAutoFit/>
            </a:bodyPr>
            <a:lstStyle/>
            <a:p>
              <a:pPr marL="0" lvl="0" indent="0" algn="l">
                <a:lnSpc>
                  <a:spcPts val="8399"/>
                </a:lnSpc>
              </a:pPr>
              <a:r>
                <a:rPr lang="en-US" sz="6999" spc="-139">
                  <a:solidFill>
                    <a:srgbClr val="D0E6FC"/>
                  </a:solidFill>
                  <a:latin typeface="Tenor Sans"/>
                  <a:ea typeface="Tenor Sans"/>
                  <a:cs typeface="Tenor Sans"/>
                  <a:sym typeface="Tenor Sans"/>
                </a:rPr>
                <a:t>Understanding Virtual Reality Technology</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grpSp>
        <p:nvGrpSpPr>
          <p:cNvPr id="2" name="Group 2"/>
          <p:cNvGrpSpPr/>
          <p:nvPr/>
        </p:nvGrpSpPr>
        <p:grpSpPr>
          <a:xfrm>
            <a:off x="12172950" y="0"/>
            <a:ext cx="6115050" cy="10287000"/>
            <a:chOff x="0" y="0"/>
            <a:chExt cx="947381" cy="1593725"/>
          </a:xfrm>
        </p:grpSpPr>
        <p:sp>
          <p:nvSpPr>
            <p:cNvPr id="3" name="Freeform 3"/>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sp>
      </p:grpSp>
      <p:grpSp>
        <p:nvGrpSpPr>
          <p:cNvPr id="4" name="Group 4"/>
          <p:cNvGrpSpPr/>
          <p:nvPr/>
        </p:nvGrpSpPr>
        <p:grpSpPr>
          <a:xfrm>
            <a:off x="666750" y="1562100"/>
            <a:ext cx="8324850" cy="3859462"/>
            <a:chOff x="0" y="0"/>
            <a:chExt cx="11099800" cy="5145950"/>
          </a:xfrm>
        </p:grpSpPr>
        <p:sp>
          <p:nvSpPr>
            <p:cNvPr id="5" name="TextBox 5"/>
            <p:cNvSpPr txBox="1"/>
            <p:nvPr/>
          </p:nvSpPr>
          <p:spPr>
            <a:xfrm>
              <a:off x="0" y="-9525"/>
              <a:ext cx="11099800" cy="1431925"/>
            </a:xfrm>
            <a:prstGeom prst="rect">
              <a:avLst/>
            </a:prstGeom>
          </p:spPr>
          <p:txBody>
            <a:bodyPr lIns="0" tIns="0" rIns="0" bIns="0" rtlCol="0" anchor="t">
              <a:spAutoFit/>
            </a:bodyPr>
            <a:lstStyle/>
            <a:p>
              <a:pPr marL="0" lvl="0" indent="0" algn="l">
                <a:lnSpc>
                  <a:spcPts val="8400"/>
                </a:lnSpc>
              </a:pPr>
              <a:r>
                <a:rPr lang="en-US" sz="7000" spc="-140">
                  <a:solidFill>
                    <a:srgbClr val="D0E6FC"/>
                  </a:solidFill>
                  <a:latin typeface="Tenor Sans"/>
                  <a:ea typeface="Tenor Sans"/>
                  <a:cs typeface="Tenor Sans"/>
                  <a:sym typeface="Tenor Sans"/>
                </a:rPr>
                <a:t>How VR Works</a:t>
              </a:r>
            </a:p>
          </p:txBody>
        </p:sp>
        <p:sp>
          <p:nvSpPr>
            <p:cNvPr id="6" name="TextBox 6"/>
            <p:cNvSpPr txBox="1"/>
            <p:nvPr/>
          </p:nvSpPr>
          <p:spPr>
            <a:xfrm>
              <a:off x="0" y="2144406"/>
              <a:ext cx="11099800" cy="508635"/>
            </a:xfrm>
            <a:prstGeom prst="rect">
              <a:avLst/>
            </a:prstGeom>
          </p:spPr>
          <p:txBody>
            <a:bodyPr lIns="0" tIns="0" rIns="0" bIns="0" rtlCol="0" anchor="t">
              <a:spAutoFit/>
            </a:bodyPr>
            <a:lstStyle/>
            <a:p>
              <a:pPr marL="0" lvl="0" indent="0" algn="l">
                <a:lnSpc>
                  <a:spcPts val="3120"/>
                </a:lnSpc>
              </a:pPr>
              <a:r>
                <a:rPr lang="en-US" sz="2400" b="1">
                  <a:solidFill>
                    <a:srgbClr val="D0E6FC"/>
                  </a:solidFill>
                  <a:latin typeface="Clear Sans Bold"/>
                  <a:ea typeface="Clear Sans Bold"/>
                  <a:cs typeface="Clear Sans Bold"/>
                  <a:sym typeface="Clear Sans Bold"/>
                </a:rPr>
                <a:t>UNDERSTANDING THE CORE COMPONENTS OF VR</a:t>
              </a:r>
            </a:p>
          </p:txBody>
        </p:sp>
        <p:sp>
          <p:nvSpPr>
            <p:cNvPr id="7" name="TextBox 7"/>
            <p:cNvSpPr txBox="1"/>
            <p:nvPr/>
          </p:nvSpPr>
          <p:spPr>
            <a:xfrm>
              <a:off x="0" y="3324135"/>
              <a:ext cx="11099800" cy="1821815"/>
            </a:xfrm>
            <a:prstGeom prst="rect">
              <a:avLst/>
            </a:prstGeom>
          </p:spPr>
          <p:txBody>
            <a:bodyPr lIns="0" tIns="0" rIns="0" bIns="0" rtlCol="0" anchor="t">
              <a:spAutoFit/>
            </a:bodyPr>
            <a:lstStyle/>
            <a:p>
              <a:pPr marL="453390" lvl="1" indent="-226695" algn="l">
                <a:lnSpc>
                  <a:spcPts val="2730"/>
                </a:lnSpc>
                <a:buFont typeface="Arial"/>
                <a:buChar char="•"/>
              </a:pPr>
              <a:r>
                <a:rPr lang="en-US" sz="2100">
                  <a:solidFill>
                    <a:srgbClr val="D0E6FC"/>
                  </a:solidFill>
                  <a:latin typeface="Clear Sans"/>
                  <a:ea typeface="Clear Sans"/>
                  <a:cs typeface="Clear Sans"/>
                  <a:sym typeface="Clear Sans"/>
                </a:rPr>
                <a:t>VR headset with screens and sensors</a:t>
              </a:r>
            </a:p>
            <a:p>
              <a:pPr marL="453390" lvl="1" indent="-226695" algn="l">
                <a:lnSpc>
                  <a:spcPts val="2730"/>
                </a:lnSpc>
                <a:buFont typeface="Arial"/>
                <a:buChar char="•"/>
              </a:pPr>
              <a:r>
                <a:rPr lang="en-US" sz="2100">
                  <a:solidFill>
                    <a:srgbClr val="D0E6FC"/>
                  </a:solidFill>
                  <a:latin typeface="Clear Sans"/>
                  <a:ea typeface="Clear Sans"/>
                  <a:cs typeface="Clear Sans"/>
                  <a:sym typeface="Clear Sans"/>
                </a:rPr>
                <a:t>Motion tracking of head and hands</a:t>
              </a:r>
            </a:p>
            <a:p>
              <a:pPr marL="453390" lvl="1" indent="-226695" algn="l">
                <a:lnSpc>
                  <a:spcPts val="2730"/>
                </a:lnSpc>
                <a:buFont typeface="Arial"/>
                <a:buChar char="•"/>
              </a:pPr>
              <a:r>
                <a:rPr lang="en-US" sz="2100">
                  <a:solidFill>
                    <a:srgbClr val="D0E6FC"/>
                  </a:solidFill>
                  <a:latin typeface="Clear Sans"/>
                  <a:ea typeface="Clear Sans"/>
                  <a:cs typeface="Clear Sans"/>
                  <a:sym typeface="Clear Sans"/>
                </a:rPr>
                <a:t>Computer or console processing environment</a:t>
              </a:r>
            </a:p>
            <a:p>
              <a:pPr marL="453390" lvl="1" indent="-226695" algn="l">
                <a:lnSpc>
                  <a:spcPts val="2730"/>
                </a:lnSpc>
                <a:buFont typeface="Arial"/>
                <a:buChar char="•"/>
              </a:pPr>
              <a:r>
                <a:rPr lang="en-US" sz="2100">
                  <a:solidFill>
                    <a:srgbClr val="D0E6FC"/>
                  </a:solidFill>
                  <a:latin typeface="Clear Sans"/>
                  <a:ea typeface="Clear Sans"/>
                  <a:cs typeface="Clear Sans"/>
                  <a:sym typeface="Clear Sans"/>
                </a:rPr>
                <a:t>Optional controllers for user interaction</a:t>
              </a:r>
            </a:p>
          </p:txBody>
        </p:sp>
      </p:grpSp>
      <p:sp>
        <p:nvSpPr>
          <p:cNvPr id="8" name="Freeform 8"/>
          <p:cNvSpPr/>
          <p:nvPr/>
        </p:nvSpPr>
        <p:spPr>
          <a:xfrm>
            <a:off x="8774635" y="7396104"/>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2A6A"/>
        </a:solidFill>
        <a:effectLst/>
      </p:bgPr>
    </p:bg>
    <p:spTree>
      <p:nvGrpSpPr>
        <p:cNvPr id="1" name=""/>
        <p:cNvGrpSpPr/>
        <p:nvPr/>
      </p:nvGrpSpPr>
      <p:grpSpPr>
        <a:xfrm>
          <a:off x="0" y="0"/>
          <a:ext cx="0" cy="0"/>
          <a:chOff x="0" y="0"/>
          <a:chExt cx="0" cy="0"/>
        </a:xfrm>
      </p:grpSpPr>
      <p:grpSp>
        <p:nvGrpSpPr>
          <p:cNvPr id="2" name="Group 2"/>
          <p:cNvGrpSpPr/>
          <p:nvPr/>
        </p:nvGrpSpPr>
        <p:grpSpPr>
          <a:xfrm>
            <a:off x="666750" y="4248150"/>
            <a:ext cx="5448300" cy="3581400"/>
            <a:chOff x="0" y="0"/>
            <a:chExt cx="1333267" cy="876413"/>
          </a:xfrm>
        </p:grpSpPr>
        <p:sp>
          <p:nvSpPr>
            <p:cNvPr id="3" name="Freeform 3"/>
            <p:cNvSpPr/>
            <p:nvPr/>
          </p:nvSpPr>
          <p:spPr>
            <a:xfrm>
              <a:off x="0" y="0"/>
              <a:ext cx="1333267" cy="876413"/>
            </a:xfrm>
            <a:custGeom>
              <a:avLst/>
              <a:gdLst/>
              <a:ahLst/>
              <a:cxnLst/>
              <a:rect l="l" t="t" r="r" b="b"/>
              <a:pathLst>
                <a:path w="1333267" h="876413">
                  <a:moveTo>
                    <a:pt x="0" y="0"/>
                  </a:moveTo>
                  <a:lnTo>
                    <a:pt x="1333267" y="0"/>
                  </a:lnTo>
                  <a:lnTo>
                    <a:pt x="1333267" y="876413"/>
                  </a:lnTo>
                  <a:lnTo>
                    <a:pt x="0" y="876413"/>
                  </a:lnTo>
                  <a:close/>
                </a:path>
              </a:pathLst>
            </a:custGeom>
            <a:blipFill>
              <a:blip r:embed="rId2"/>
              <a:stretch>
                <a:fillRect l="-83" r="-83"/>
              </a:stretch>
            </a:blipFill>
          </p:spPr>
        </p:sp>
      </p:grpSp>
      <p:grpSp>
        <p:nvGrpSpPr>
          <p:cNvPr id="4" name="Group 4"/>
          <p:cNvGrpSpPr/>
          <p:nvPr/>
        </p:nvGrpSpPr>
        <p:grpSpPr>
          <a:xfrm>
            <a:off x="6419850" y="4248150"/>
            <a:ext cx="5448300" cy="3581400"/>
            <a:chOff x="0" y="0"/>
            <a:chExt cx="1333267" cy="876413"/>
          </a:xfrm>
        </p:grpSpPr>
        <p:sp>
          <p:nvSpPr>
            <p:cNvPr id="5" name="Freeform 5"/>
            <p:cNvSpPr/>
            <p:nvPr/>
          </p:nvSpPr>
          <p:spPr>
            <a:xfrm>
              <a:off x="0" y="0"/>
              <a:ext cx="1333267" cy="876413"/>
            </a:xfrm>
            <a:custGeom>
              <a:avLst/>
              <a:gdLst/>
              <a:ahLst/>
              <a:cxnLst/>
              <a:rect l="l" t="t" r="r" b="b"/>
              <a:pathLst>
                <a:path w="1333267" h="876413">
                  <a:moveTo>
                    <a:pt x="0" y="0"/>
                  </a:moveTo>
                  <a:lnTo>
                    <a:pt x="1333267" y="0"/>
                  </a:lnTo>
                  <a:lnTo>
                    <a:pt x="1333267" y="876413"/>
                  </a:lnTo>
                  <a:lnTo>
                    <a:pt x="0" y="876413"/>
                  </a:lnTo>
                  <a:close/>
                </a:path>
              </a:pathLst>
            </a:custGeom>
            <a:blipFill>
              <a:blip r:embed="rId3"/>
              <a:stretch>
                <a:fillRect l="-83" r="-83"/>
              </a:stretch>
            </a:blipFill>
          </p:spPr>
        </p:sp>
      </p:grpSp>
      <p:grpSp>
        <p:nvGrpSpPr>
          <p:cNvPr id="6" name="Group 6"/>
          <p:cNvGrpSpPr/>
          <p:nvPr/>
        </p:nvGrpSpPr>
        <p:grpSpPr>
          <a:xfrm>
            <a:off x="12172950" y="4248150"/>
            <a:ext cx="5448300" cy="3581400"/>
            <a:chOff x="0" y="0"/>
            <a:chExt cx="1333267" cy="876413"/>
          </a:xfrm>
        </p:grpSpPr>
        <p:sp>
          <p:nvSpPr>
            <p:cNvPr id="7" name="Freeform 7"/>
            <p:cNvSpPr/>
            <p:nvPr/>
          </p:nvSpPr>
          <p:spPr>
            <a:xfrm>
              <a:off x="0" y="0"/>
              <a:ext cx="1333267" cy="876413"/>
            </a:xfrm>
            <a:custGeom>
              <a:avLst/>
              <a:gdLst/>
              <a:ahLst/>
              <a:cxnLst/>
              <a:rect l="l" t="t" r="r" b="b"/>
              <a:pathLst>
                <a:path w="1333267" h="876413">
                  <a:moveTo>
                    <a:pt x="0" y="0"/>
                  </a:moveTo>
                  <a:lnTo>
                    <a:pt x="1333267" y="0"/>
                  </a:lnTo>
                  <a:lnTo>
                    <a:pt x="1333267" y="876413"/>
                  </a:lnTo>
                  <a:lnTo>
                    <a:pt x="0" y="876413"/>
                  </a:lnTo>
                  <a:close/>
                </a:path>
              </a:pathLst>
            </a:custGeom>
            <a:blipFill>
              <a:blip r:embed="rId4"/>
              <a:stretch>
                <a:fillRect l="-83" r="-83"/>
              </a:stretch>
            </a:blipFill>
          </p:spPr>
        </p:sp>
      </p:grpSp>
      <p:grpSp>
        <p:nvGrpSpPr>
          <p:cNvPr id="8" name="Group 8"/>
          <p:cNvGrpSpPr/>
          <p:nvPr/>
        </p:nvGrpSpPr>
        <p:grpSpPr>
          <a:xfrm>
            <a:off x="668089" y="8366723"/>
            <a:ext cx="5446961" cy="1253517"/>
            <a:chOff x="0" y="0"/>
            <a:chExt cx="7262615" cy="1671356"/>
          </a:xfrm>
        </p:grpSpPr>
        <p:sp>
          <p:nvSpPr>
            <p:cNvPr id="9" name="TextBox 9"/>
            <p:cNvSpPr txBox="1"/>
            <p:nvPr/>
          </p:nvSpPr>
          <p:spPr>
            <a:xfrm>
              <a:off x="0" y="-47625"/>
              <a:ext cx="7262615"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D0E6FC"/>
                  </a:solidFill>
                  <a:latin typeface="Clear Sans Medium"/>
                  <a:ea typeface="Clear Sans Medium"/>
                  <a:cs typeface="Clear Sans Medium"/>
                  <a:sym typeface="Clear Sans Medium"/>
                </a:rPr>
                <a:t>GAMING</a:t>
              </a:r>
            </a:p>
          </p:txBody>
        </p:sp>
        <p:sp>
          <p:nvSpPr>
            <p:cNvPr id="10" name="TextBox 10"/>
            <p:cNvSpPr txBox="1"/>
            <p:nvPr/>
          </p:nvSpPr>
          <p:spPr>
            <a:xfrm>
              <a:off x="0" y="704251"/>
              <a:ext cx="7262615" cy="967105"/>
            </a:xfrm>
            <a:prstGeom prst="rect">
              <a:avLst/>
            </a:prstGeom>
          </p:spPr>
          <p:txBody>
            <a:bodyPr lIns="0" tIns="0" rIns="0" bIns="0" rtlCol="0" anchor="t">
              <a:spAutoFit/>
            </a:bodyPr>
            <a:lstStyle/>
            <a:p>
              <a:pPr marL="0" lvl="0" indent="0" algn="ctr">
                <a:lnSpc>
                  <a:spcPts val="2940"/>
                </a:lnSpc>
              </a:pPr>
              <a:r>
                <a:rPr lang="en-US" sz="2100">
                  <a:solidFill>
                    <a:srgbClr val="D0E6FC"/>
                  </a:solidFill>
                  <a:latin typeface="Clear Sans"/>
                  <a:ea typeface="Clear Sans"/>
                  <a:cs typeface="Clear Sans"/>
                  <a:sym typeface="Clear Sans"/>
                </a:rPr>
                <a:t>Immersive gameplay that enhances player experiences.</a:t>
              </a:r>
            </a:p>
          </p:txBody>
        </p:sp>
      </p:grpSp>
      <p:grpSp>
        <p:nvGrpSpPr>
          <p:cNvPr id="11" name="Group 11"/>
          <p:cNvGrpSpPr/>
          <p:nvPr/>
        </p:nvGrpSpPr>
        <p:grpSpPr>
          <a:xfrm>
            <a:off x="6419850" y="8366723"/>
            <a:ext cx="5448300" cy="1253568"/>
            <a:chOff x="0" y="0"/>
            <a:chExt cx="7264400" cy="1671424"/>
          </a:xfrm>
        </p:grpSpPr>
        <p:sp>
          <p:nvSpPr>
            <p:cNvPr id="12" name="TextBox 12"/>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D0E6FC"/>
                  </a:solidFill>
                  <a:latin typeface="Clear Sans Medium"/>
                  <a:ea typeface="Clear Sans Medium"/>
                  <a:cs typeface="Clear Sans Medium"/>
                  <a:sym typeface="Clear Sans Medium"/>
                </a:rPr>
                <a:t>TRAINING</a:t>
              </a:r>
            </a:p>
          </p:txBody>
        </p:sp>
        <p:sp>
          <p:nvSpPr>
            <p:cNvPr id="13" name="TextBox 13"/>
            <p:cNvSpPr txBox="1"/>
            <p:nvPr/>
          </p:nvSpPr>
          <p:spPr>
            <a:xfrm>
              <a:off x="0" y="704319"/>
              <a:ext cx="7264400" cy="967105"/>
            </a:xfrm>
            <a:prstGeom prst="rect">
              <a:avLst/>
            </a:prstGeom>
          </p:spPr>
          <p:txBody>
            <a:bodyPr lIns="0" tIns="0" rIns="0" bIns="0" rtlCol="0" anchor="t">
              <a:spAutoFit/>
            </a:bodyPr>
            <a:lstStyle/>
            <a:p>
              <a:pPr marL="0" lvl="0" indent="0" algn="ctr">
                <a:lnSpc>
                  <a:spcPts val="2940"/>
                </a:lnSpc>
              </a:pPr>
              <a:r>
                <a:rPr lang="en-US" sz="2100">
                  <a:solidFill>
                    <a:srgbClr val="D0E6FC"/>
                  </a:solidFill>
                  <a:latin typeface="Clear Sans"/>
                  <a:ea typeface="Clear Sans"/>
                  <a:cs typeface="Clear Sans"/>
                  <a:sym typeface="Clear Sans"/>
                </a:rPr>
                <a:t>Essential for skill development in various fields.</a:t>
              </a:r>
            </a:p>
          </p:txBody>
        </p:sp>
      </p:grpSp>
      <p:grpSp>
        <p:nvGrpSpPr>
          <p:cNvPr id="14" name="Group 14"/>
          <p:cNvGrpSpPr/>
          <p:nvPr/>
        </p:nvGrpSpPr>
        <p:grpSpPr>
          <a:xfrm>
            <a:off x="12172950" y="8366774"/>
            <a:ext cx="5448300" cy="1253466"/>
            <a:chOff x="0" y="0"/>
            <a:chExt cx="7264400" cy="1671288"/>
          </a:xfrm>
        </p:grpSpPr>
        <p:sp>
          <p:nvSpPr>
            <p:cNvPr id="15" name="TextBox 15"/>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u="none" strike="noStrike">
                  <a:solidFill>
                    <a:srgbClr val="D0E6FC"/>
                  </a:solidFill>
                  <a:latin typeface="Clear Sans Medium"/>
                  <a:ea typeface="Clear Sans Medium"/>
                  <a:cs typeface="Clear Sans Medium"/>
                  <a:sym typeface="Clear Sans Medium"/>
                </a:rPr>
                <a:t>ENTERTAINMENT</a:t>
              </a:r>
            </a:p>
          </p:txBody>
        </p:sp>
        <p:sp>
          <p:nvSpPr>
            <p:cNvPr id="16" name="TextBox 16"/>
            <p:cNvSpPr txBox="1"/>
            <p:nvPr/>
          </p:nvSpPr>
          <p:spPr>
            <a:xfrm>
              <a:off x="0" y="704183"/>
              <a:ext cx="7264400" cy="967105"/>
            </a:xfrm>
            <a:prstGeom prst="rect">
              <a:avLst/>
            </a:prstGeom>
          </p:spPr>
          <p:txBody>
            <a:bodyPr lIns="0" tIns="0" rIns="0" bIns="0" rtlCol="0" anchor="t">
              <a:spAutoFit/>
            </a:bodyPr>
            <a:lstStyle/>
            <a:p>
              <a:pPr marL="0" lvl="0" indent="0" algn="ctr">
                <a:lnSpc>
                  <a:spcPts val="2940"/>
                </a:lnSpc>
              </a:pPr>
              <a:r>
                <a:rPr lang="en-US" sz="2100">
                  <a:solidFill>
                    <a:srgbClr val="D0E6FC"/>
                  </a:solidFill>
                  <a:latin typeface="Clear Sans"/>
                  <a:ea typeface="Clear Sans"/>
                  <a:cs typeface="Clear Sans"/>
                  <a:sym typeface="Clear Sans"/>
                </a:rPr>
                <a:t>Virtual concerts and movies that captivate audiences.</a:t>
              </a:r>
            </a:p>
          </p:txBody>
        </p:sp>
      </p:grpSp>
      <p:sp>
        <p:nvSpPr>
          <p:cNvPr id="17" name="TextBox 17"/>
          <p:cNvSpPr txBox="1"/>
          <p:nvPr/>
        </p:nvSpPr>
        <p:spPr>
          <a:xfrm>
            <a:off x="666750" y="1562100"/>
            <a:ext cx="14077950" cy="2111895"/>
          </a:xfrm>
          <a:prstGeom prst="rect">
            <a:avLst/>
          </a:prstGeom>
        </p:spPr>
        <p:txBody>
          <a:bodyPr lIns="0" tIns="0" rIns="0" bIns="0" rtlCol="0" anchor="t">
            <a:spAutoFit/>
          </a:bodyPr>
          <a:lstStyle/>
          <a:p>
            <a:pPr marL="0" lvl="0" indent="0" algn="l">
              <a:lnSpc>
                <a:spcPts val="8399"/>
              </a:lnSpc>
            </a:pPr>
            <a:r>
              <a:rPr lang="en-US" sz="6999" spc="-139">
                <a:solidFill>
                  <a:srgbClr val="D0E6FC"/>
                </a:solidFill>
                <a:latin typeface="Tenor Sans"/>
                <a:ea typeface="Tenor Sans"/>
                <a:cs typeface="Tenor Sans"/>
                <a:sym typeface="Tenor Sans"/>
              </a:rPr>
              <a:t>Common Applications of Virtual Reality (VR)</a:t>
            </a:r>
          </a:p>
        </p:txBody>
      </p:sp>
      <p:sp>
        <p:nvSpPr>
          <p:cNvPr id="18" name="Freeform 18"/>
          <p:cNvSpPr/>
          <p:nvPr/>
        </p:nvSpPr>
        <p:spPr>
          <a:xfrm rot="-6723923">
            <a:off x="13666568" y="-2297777"/>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115050" cy="10287000"/>
            <a:chOff x="0" y="0"/>
            <a:chExt cx="757905" cy="1274980"/>
          </a:xfrm>
        </p:grpSpPr>
        <p:sp>
          <p:nvSpPr>
            <p:cNvPr id="3" name="Freeform 3"/>
            <p:cNvSpPr/>
            <p:nvPr/>
          </p:nvSpPr>
          <p:spPr>
            <a:xfrm>
              <a:off x="0" y="0"/>
              <a:ext cx="757905" cy="1274980"/>
            </a:xfrm>
            <a:custGeom>
              <a:avLst/>
              <a:gdLst/>
              <a:ahLst/>
              <a:cxnLst/>
              <a:rect l="l" t="t" r="r" b="b"/>
              <a:pathLst>
                <a:path w="757905" h="1274980">
                  <a:moveTo>
                    <a:pt x="0" y="0"/>
                  </a:moveTo>
                  <a:lnTo>
                    <a:pt x="757905" y="0"/>
                  </a:lnTo>
                  <a:lnTo>
                    <a:pt x="757905" y="1274980"/>
                  </a:lnTo>
                  <a:lnTo>
                    <a:pt x="0" y="1274980"/>
                  </a:lnTo>
                  <a:close/>
                </a:path>
              </a:pathLst>
            </a:custGeom>
            <a:blipFill>
              <a:blip r:embed="rId2"/>
              <a:stretch>
                <a:fillRect t="-58" b="-58"/>
              </a:stretch>
            </a:blipFill>
          </p:spPr>
        </p:sp>
      </p:grpSp>
      <p:grpSp>
        <p:nvGrpSpPr>
          <p:cNvPr id="4" name="Group 4"/>
          <p:cNvGrpSpPr/>
          <p:nvPr/>
        </p:nvGrpSpPr>
        <p:grpSpPr>
          <a:xfrm>
            <a:off x="7858125" y="1562100"/>
            <a:ext cx="8324850" cy="4661535"/>
            <a:chOff x="0" y="0"/>
            <a:chExt cx="11099800" cy="6215380"/>
          </a:xfrm>
        </p:grpSpPr>
        <p:sp>
          <p:nvSpPr>
            <p:cNvPr id="5" name="TextBox 5"/>
            <p:cNvSpPr txBox="1"/>
            <p:nvPr/>
          </p:nvSpPr>
          <p:spPr>
            <a:xfrm>
              <a:off x="0" y="3267075"/>
              <a:ext cx="11099800" cy="2948305"/>
            </a:xfrm>
            <a:prstGeom prst="rect">
              <a:avLst/>
            </a:prstGeom>
          </p:spPr>
          <p:txBody>
            <a:bodyPr lIns="0" tIns="0" rIns="0" bIns="0" rtlCol="0" anchor="t">
              <a:spAutoFit/>
            </a:bodyPr>
            <a:lstStyle/>
            <a:p>
              <a:pPr marL="0" lvl="0" indent="0" algn="l">
                <a:lnSpc>
                  <a:spcPts val="2940"/>
                </a:lnSpc>
              </a:pPr>
              <a:r>
                <a:rPr lang="en-US" sz="2100">
                  <a:solidFill>
                    <a:srgbClr val="D0E6FC"/>
                  </a:solidFill>
                  <a:latin typeface="Clear Sans"/>
                  <a:ea typeface="Clear Sans"/>
                  <a:cs typeface="Clear Sans"/>
                  <a:sym typeface="Clear Sans"/>
                </a:rPr>
                <a:t>A significant </a:t>
              </a:r>
              <a:r>
                <a:rPr lang="en-US" sz="2100" b="1">
                  <a:solidFill>
                    <a:srgbClr val="D0E6FC"/>
                  </a:solidFill>
                  <a:latin typeface="Clear Sans Bold"/>
                  <a:ea typeface="Clear Sans Bold"/>
                  <a:cs typeface="Clear Sans Bold"/>
                  <a:sym typeface="Clear Sans Bold"/>
                </a:rPr>
                <a:t>75% of educators</a:t>
              </a:r>
              <a:r>
                <a:rPr lang="en-US" sz="2100">
                  <a:solidFill>
                    <a:srgbClr val="D0E6FC"/>
                  </a:solidFill>
                  <a:latin typeface="Clear Sans"/>
                  <a:ea typeface="Clear Sans"/>
                  <a:cs typeface="Clear Sans"/>
                  <a:sym typeface="Clear Sans"/>
                </a:rPr>
                <a:t> believe that virtual reality can enhance student engagement in the classroom. This technology allows for immersive learning experiences, enabling students to explore concepts interactively and intuitively. As VR becomes more prevalent, it has the potential to revolutionize traditional educational methods, fostering deeper understanding.</a:t>
              </a:r>
            </a:p>
          </p:txBody>
        </p:sp>
        <p:sp>
          <p:nvSpPr>
            <p:cNvPr id="6" name="TextBox 6"/>
            <p:cNvSpPr txBox="1"/>
            <p:nvPr/>
          </p:nvSpPr>
          <p:spPr>
            <a:xfrm>
              <a:off x="0" y="2120900"/>
              <a:ext cx="11099800" cy="482600"/>
            </a:xfrm>
            <a:prstGeom prst="rect">
              <a:avLst/>
            </a:prstGeom>
          </p:spPr>
          <p:txBody>
            <a:bodyPr lIns="0" tIns="0" rIns="0" bIns="0" rtlCol="0" anchor="t">
              <a:spAutoFit/>
            </a:bodyPr>
            <a:lstStyle/>
            <a:p>
              <a:pPr marL="0" lvl="0" indent="0" algn="l">
                <a:lnSpc>
                  <a:spcPts val="2879"/>
                </a:lnSpc>
                <a:spcBef>
                  <a:spcPct val="0"/>
                </a:spcBef>
              </a:pPr>
              <a:r>
                <a:rPr lang="en-US" sz="2400" b="1" u="none">
                  <a:solidFill>
                    <a:srgbClr val="D0E6FC"/>
                  </a:solidFill>
                  <a:latin typeface="Clear Sans Bold"/>
                  <a:ea typeface="Clear Sans Bold"/>
                  <a:cs typeface="Clear Sans Bold"/>
                  <a:sym typeface="Clear Sans Bold"/>
                </a:rPr>
                <a:t>EDUCATOR SUPPORT</a:t>
              </a:r>
            </a:p>
          </p:txBody>
        </p:sp>
        <p:sp>
          <p:nvSpPr>
            <p:cNvPr id="7" name="TextBox 7"/>
            <p:cNvSpPr txBox="1"/>
            <p:nvPr/>
          </p:nvSpPr>
          <p:spPr>
            <a:xfrm>
              <a:off x="0" y="0"/>
              <a:ext cx="11099800" cy="1409700"/>
            </a:xfrm>
            <a:prstGeom prst="rect">
              <a:avLst/>
            </a:prstGeom>
          </p:spPr>
          <p:txBody>
            <a:bodyPr lIns="0" tIns="0" rIns="0" bIns="0" rtlCol="0" anchor="t">
              <a:spAutoFit/>
            </a:bodyPr>
            <a:lstStyle/>
            <a:p>
              <a:pPr marL="0" lvl="0" indent="0" algn="l">
                <a:lnSpc>
                  <a:spcPts val="8399"/>
                </a:lnSpc>
              </a:pPr>
              <a:r>
                <a:rPr lang="en-US" sz="6999" spc="-139">
                  <a:solidFill>
                    <a:srgbClr val="D0E6FC"/>
                  </a:solidFill>
                  <a:latin typeface="Tenor Sans"/>
                  <a:ea typeface="Tenor Sans"/>
                  <a:cs typeface="Tenor Sans"/>
                  <a:sym typeface="Tenor Sans"/>
                </a:rPr>
                <a:t>75%</a:t>
              </a:r>
            </a:p>
          </p:txBody>
        </p:sp>
      </p:grpSp>
      <p:sp>
        <p:nvSpPr>
          <p:cNvPr id="8" name="Freeform 8"/>
          <p:cNvSpPr/>
          <p:nvPr/>
        </p:nvSpPr>
        <p:spPr>
          <a:xfrm rot="-6723923">
            <a:off x="13666568" y="-2297777"/>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2A6A"/>
        </a:solidFill>
        <a:effectLst/>
      </p:bgPr>
    </p:bg>
    <p:spTree>
      <p:nvGrpSpPr>
        <p:cNvPr id="1" name=""/>
        <p:cNvGrpSpPr/>
        <p:nvPr/>
      </p:nvGrpSpPr>
      <p:grpSpPr>
        <a:xfrm>
          <a:off x="0" y="0"/>
          <a:ext cx="0" cy="0"/>
          <a:chOff x="0" y="0"/>
          <a:chExt cx="0" cy="0"/>
        </a:xfrm>
      </p:grpSpPr>
      <p:sp>
        <p:nvSpPr>
          <p:cNvPr id="2" name="Freeform 2"/>
          <p:cNvSpPr/>
          <p:nvPr/>
        </p:nvSpPr>
        <p:spPr>
          <a:xfrm rot="-10087176">
            <a:off x="3189187" y="-10712043"/>
            <a:ext cx="14136818" cy="12003443"/>
          </a:xfrm>
          <a:custGeom>
            <a:avLst/>
            <a:gdLst/>
            <a:ahLst/>
            <a:cxnLst/>
            <a:rect l="l" t="t" r="r" b="b"/>
            <a:pathLst>
              <a:path w="14136818" h="12003443">
                <a:moveTo>
                  <a:pt x="0" y="0"/>
                </a:moveTo>
                <a:lnTo>
                  <a:pt x="14136818" y="0"/>
                </a:lnTo>
                <a:lnTo>
                  <a:pt x="14136818" y="12003443"/>
                </a:lnTo>
                <a:lnTo>
                  <a:pt x="0" y="12003443"/>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2105025" y="1562100"/>
            <a:ext cx="14077950" cy="1055948"/>
          </a:xfrm>
          <a:prstGeom prst="rect">
            <a:avLst/>
          </a:prstGeom>
        </p:spPr>
        <p:txBody>
          <a:bodyPr lIns="0" tIns="0" rIns="0" bIns="0" rtlCol="0" anchor="t">
            <a:spAutoFit/>
          </a:bodyPr>
          <a:lstStyle/>
          <a:p>
            <a:pPr marL="0" lvl="0" indent="0" algn="ctr">
              <a:lnSpc>
                <a:spcPts val="8399"/>
              </a:lnSpc>
            </a:pPr>
            <a:r>
              <a:rPr lang="en-US" sz="6999" spc="-139">
                <a:solidFill>
                  <a:srgbClr val="D0E6FC"/>
                </a:solidFill>
                <a:latin typeface="Tenor Sans"/>
                <a:ea typeface="Tenor Sans"/>
                <a:cs typeface="Tenor Sans"/>
                <a:sym typeface="Tenor Sans"/>
              </a:rPr>
              <a:t>Benefits of VR</a:t>
            </a:r>
          </a:p>
        </p:txBody>
      </p:sp>
      <p:grpSp>
        <p:nvGrpSpPr>
          <p:cNvPr id="4" name="Group 4"/>
          <p:cNvGrpSpPr/>
          <p:nvPr/>
        </p:nvGrpSpPr>
        <p:grpSpPr>
          <a:xfrm>
            <a:off x="666750" y="5143500"/>
            <a:ext cx="5448300" cy="2680135"/>
            <a:chOff x="0" y="0"/>
            <a:chExt cx="7264400" cy="3573513"/>
          </a:xfrm>
        </p:grpSpPr>
        <p:sp>
          <p:nvSpPr>
            <p:cNvPr id="5" name="TextBox 5"/>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D0E6FC"/>
                  </a:solidFill>
                  <a:latin typeface="Clear Sans Medium"/>
                  <a:ea typeface="Clear Sans Medium"/>
                  <a:cs typeface="Clear Sans Medium"/>
                  <a:sym typeface="Clear Sans Medium"/>
                </a:rPr>
                <a:t>ENGAGEMENT</a:t>
              </a:r>
            </a:p>
          </p:txBody>
        </p:sp>
        <p:sp>
          <p:nvSpPr>
            <p:cNvPr id="6" name="TextBox 6"/>
            <p:cNvSpPr txBox="1"/>
            <p:nvPr/>
          </p:nvSpPr>
          <p:spPr>
            <a:xfrm>
              <a:off x="0" y="1146193"/>
              <a:ext cx="7264400" cy="2427320"/>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D0E6FC"/>
                  </a:solidFill>
                  <a:latin typeface="Clear Sans"/>
                  <a:ea typeface="Clear Sans"/>
                  <a:cs typeface="Clear Sans"/>
                  <a:sym typeface="Clear Sans"/>
                </a:rPr>
                <a:t>VR significantly enhances </a:t>
              </a:r>
              <a:r>
                <a:rPr lang="en-US" sz="2099" b="1">
                  <a:solidFill>
                    <a:srgbClr val="D0E6FC"/>
                  </a:solidFill>
                  <a:latin typeface="Clear Sans Bold"/>
                  <a:ea typeface="Clear Sans Bold"/>
                  <a:cs typeface="Clear Sans Bold"/>
                  <a:sym typeface="Clear Sans Bold"/>
                </a:rPr>
                <a:t>student engagement</a:t>
              </a:r>
              <a:r>
                <a:rPr lang="en-US" sz="2099">
                  <a:solidFill>
                    <a:srgbClr val="D0E6FC"/>
                  </a:solidFill>
                  <a:latin typeface="Clear Sans"/>
                  <a:ea typeface="Clear Sans"/>
                  <a:cs typeface="Clear Sans"/>
                  <a:sym typeface="Clear Sans"/>
                </a:rPr>
                <a:t> by creating immersive experiences that captivate learners' attention and encourage active participation in their education.</a:t>
              </a:r>
            </a:p>
          </p:txBody>
        </p:sp>
      </p:grpSp>
      <p:grpSp>
        <p:nvGrpSpPr>
          <p:cNvPr id="7" name="Group 7"/>
          <p:cNvGrpSpPr/>
          <p:nvPr/>
        </p:nvGrpSpPr>
        <p:grpSpPr>
          <a:xfrm>
            <a:off x="6419850" y="5143500"/>
            <a:ext cx="5448300" cy="2680135"/>
            <a:chOff x="0" y="0"/>
            <a:chExt cx="7264400" cy="3573513"/>
          </a:xfrm>
        </p:grpSpPr>
        <p:sp>
          <p:nvSpPr>
            <p:cNvPr id="8" name="TextBox 8"/>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D0E6FC"/>
                  </a:solidFill>
                  <a:latin typeface="Clear Sans Medium"/>
                  <a:ea typeface="Clear Sans Medium"/>
                  <a:cs typeface="Clear Sans Medium"/>
                  <a:sym typeface="Clear Sans Medium"/>
                </a:rPr>
                <a:t>SAFE PRACTICE</a:t>
              </a:r>
            </a:p>
          </p:txBody>
        </p:sp>
        <p:sp>
          <p:nvSpPr>
            <p:cNvPr id="9" name="TextBox 9"/>
            <p:cNvSpPr txBox="1"/>
            <p:nvPr/>
          </p:nvSpPr>
          <p:spPr>
            <a:xfrm>
              <a:off x="0" y="1146193"/>
              <a:ext cx="7264400" cy="2427320"/>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D0E6FC"/>
                  </a:solidFill>
                  <a:latin typeface="Clear Sans"/>
                  <a:ea typeface="Clear Sans"/>
                  <a:cs typeface="Clear Sans"/>
                  <a:sym typeface="Clear Sans"/>
                </a:rPr>
                <a:t>With VR, learners can safely practice </a:t>
              </a:r>
              <a:r>
                <a:rPr lang="en-US" sz="2099" b="1">
                  <a:solidFill>
                    <a:srgbClr val="D0E6FC"/>
                  </a:solidFill>
                  <a:latin typeface="Clear Sans Bold"/>
                  <a:ea typeface="Clear Sans Bold"/>
                  <a:cs typeface="Clear Sans Bold"/>
                  <a:sym typeface="Clear Sans Bold"/>
                </a:rPr>
                <a:t>complex skills</a:t>
              </a:r>
              <a:r>
                <a:rPr lang="en-US" sz="2099">
                  <a:solidFill>
                    <a:srgbClr val="D0E6FC"/>
                  </a:solidFill>
                  <a:latin typeface="Clear Sans"/>
                  <a:ea typeface="Clear Sans"/>
                  <a:cs typeface="Clear Sans"/>
                  <a:sym typeface="Clear Sans"/>
                </a:rPr>
                <a:t> in a controlled environment, making mistakes without real-world consequences, thus building their confidence.</a:t>
              </a:r>
            </a:p>
          </p:txBody>
        </p:sp>
      </p:grpSp>
      <p:grpSp>
        <p:nvGrpSpPr>
          <p:cNvPr id="10" name="Group 10"/>
          <p:cNvGrpSpPr/>
          <p:nvPr/>
        </p:nvGrpSpPr>
        <p:grpSpPr>
          <a:xfrm>
            <a:off x="12172950" y="5143500"/>
            <a:ext cx="5448300" cy="2312513"/>
            <a:chOff x="0" y="0"/>
            <a:chExt cx="7264400" cy="3083350"/>
          </a:xfrm>
        </p:grpSpPr>
        <p:sp>
          <p:nvSpPr>
            <p:cNvPr id="11" name="TextBox 11"/>
            <p:cNvSpPr txBox="1"/>
            <p:nvPr/>
          </p:nvSpPr>
          <p:spPr>
            <a:xfrm>
              <a:off x="0" y="-47625"/>
              <a:ext cx="7264400" cy="525145"/>
            </a:xfrm>
            <a:prstGeom prst="rect">
              <a:avLst/>
            </a:prstGeom>
          </p:spPr>
          <p:txBody>
            <a:bodyPr lIns="0" tIns="0" rIns="0" bIns="0" rtlCol="0" anchor="t">
              <a:spAutoFit/>
            </a:bodyPr>
            <a:lstStyle/>
            <a:p>
              <a:pPr marL="0" lvl="0" indent="0" algn="ctr">
                <a:lnSpc>
                  <a:spcPts val="3359"/>
                </a:lnSpc>
                <a:spcBef>
                  <a:spcPct val="0"/>
                </a:spcBef>
              </a:pPr>
              <a:r>
                <a:rPr lang="en-US" sz="2400" b="1">
                  <a:solidFill>
                    <a:srgbClr val="D0E6FC"/>
                  </a:solidFill>
                  <a:latin typeface="Clear Sans Medium"/>
                  <a:ea typeface="Clear Sans Medium"/>
                  <a:cs typeface="Clear Sans Medium"/>
                  <a:sym typeface="Clear Sans Medium"/>
                </a:rPr>
                <a:t>EXPERIENTIAL LEARNING</a:t>
              </a:r>
            </a:p>
          </p:txBody>
        </p:sp>
        <p:sp>
          <p:nvSpPr>
            <p:cNvPr id="12" name="TextBox 12"/>
            <p:cNvSpPr txBox="1"/>
            <p:nvPr/>
          </p:nvSpPr>
          <p:spPr>
            <a:xfrm>
              <a:off x="0" y="1146193"/>
              <a:ext cx="7264400" cy="1937157"/>
            </a:xfrm>
            <a:prstGeom prst="rect">
              <a:avLst/>
            </a:prstGeom>
          </p:spPr>
          <p:txBody>
            <a:bodyPr lIns="0" tIns="0" rIns="0" bIns="0" rtlCol="0" anchor="t">
              <a:spAutoFit/>
            </a:bodyPr>
            <a:lstStyle/>
            <a:p>
              <a:pPr marL="0" lvl="0" indent="0" algn="ctr">
                <a:lnSpc>
                  <a:spcPts val="2939"/>
                </a:lnSpc>
                <a:spcBef>
                  <a:spcPct val="0"/>
                </a:spcBef>
              </a:pPr>
              <a:r>
                <a:rPr lang="en-US" sz="2099">
                  <a:solidFill>
                    <a:srgbClr val="D0E6FC"/>
                  </a:solidFill>
                  <a:latin typeface="Clear Sans"/>
                  <a:ea typeface="Clear Sans"/>
                  <a:cs typeface="Clear Sans"/>
                  <a:sym typeface="Clear Sans"/>
                </a:rPr>
                <a:t>VR provides </a:t>
              </a:r>
              <a:r>
                <a:rPr lang="en-US" sz="2099" b="1">
                  <a:solidFill>
                    <a:srgbClr val="D0E6FC"/>
                  </a:solidFill>
                  <a:latin typeface="Clear Sans Bold"/>
                  <a:ea typeface="Clear Sans Bold"/>
                  <a:cs typeface="Clear Sans Bold"/>
                  <a:sym typeface="Clear Sans Bold"/>
                </a:rPr>
                <a:t>experiential and visual learning</a:t>
              </a:r>
              <a:r>
                <a:rPr lang="en-US" sz="2099">
                  <a:solidFill>
                    <a:srgbClr val="D0E6FC"/>
                  </a:solidFill>
                  <a:latin typeface="Clear Sans"/>
                  <a:ea typeface="Clear Sans"/>
                  <a:cs typeface="Clear Sans"/>
                  <a:sym typeface="Clear Sans"/>
                </a:rPr>
                <a:t> opportunities, allowing students to explore concepts interactively, which helps reinforce understanding and retention of information.</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grpSp>
        <p:nvGrpSpPr>
          <p:cNvPr id="2" name="Group 2"/>
          <p:cNvGrpSpPr/>
          <p:nvPr/>
        </p:nvGrpSpPr>
        <p:grpSpPr>
          <a:xfrm>
            <a:off x="2105025" y="1562100"/>
            <a:ext cx="6886575" cy="4602480"/>
            <a:chOff x="0" y="0"/>
            <a:chExt cx="9182100" cy="6136640"/>
          </a:xfrm>
        </p:grpSpPr>
        <p:sp>
          <p:nvSpPr>
            <p:cNvPr id="3" name="TextBox 3"/>
            <p:cNvSpPr txBox="1"/>
            <p:nvPr/>
          </p:nvSpPr>
          <p:spPr>
            <a:xfrm>
              <a:off x="0" y="0"/>
              <a:ext cx="9182100" cy="482600"/>
            </a:xfrm>
            <a:prstGeom prst="rect">
              <a:avLst/>
            </a:prstGeom>
          </p:spPr>
          <p:txBody>
            <a:bodyPr lIns="0" tIns="0" rIns="0" bIns="0" rtlCol="0" anchor="t">
              <a:spAutoFit/>
            </a:bodyPr>
            <a:lstStyle/>
            <a:p>
              <a:pPr marL="0" lvl="0" indent="0" algn="l">
                <a:lnSpc>
                  <a:spcPts val="2879"/>
                </a:lnSpc>
                <a:spcBef>
                  <a:spcPct val="0"/>
                </a:spcBef>
              </a:pPr>
              <a:r>
                <a:rPr lang="en-US" sz="2400" b="1">
                  <a:solidFill>
                    <a:srgbClr val="D0E6FC"/>
                  </a:solidFill>
                  <a:latin typeface="Clear Sans Bold"/>
                  <a:ea typeface="Clear Sans Bold"/>
                  <a:cs typeface="Clear Sans Bold"/>
                  <a:sym typeface="Clear Sans Bold"/>
                </a:rPr>
                <a:t>PROS OF VIRTUAL REALITY</a:t>
              </a:r>
            </a:p>
          </p:txBody>
        </p:sp>
        <p:sp>
          <p:nvSpPr>
            <p:cNvPr id="4" name="TextBox 4"/>
            <p:cNvSpPr txBox="1"/>
            <p:nvPr/>
          </p:nvSpPr>
          <p:spPr>
            <a:xfrm>
              <a:off x="0" y="1141095"/>
              <a:ext cx="9182100" cy="4995545"/>
            </a:xfrm>
            <a:prstGeom prst="rect">
              <a:avLst/>
            </a:prstGeom>
          </p:spPr>
          <p:txBody>
            <a:bodyPr lIns="0" tIns="0" rIns="0" bIns="0" rtlCol="0" anchor="t">
              <a:spAutoFit/>
            </a:bodyPr>
            <a:lstStyle/>
            <a:p>
              <a:pPr marL="0" lvl="0" indent="0" algn="l">
                <a:lnSpc>
                  <a:spcPts val="3359"/>
                </a:lnSpc>
              </a:pPr>
              <a:r>
                <a:rPr lang="en-US" sz="2399">
                  <a:solidFill>
                    <a:srgbClr val="D0E6FC"/>
                  </a:solidFill>
                  <a:latin typeface="Clear Sans"/>
                  <a:ea typeface="Clear Sans"/>
                  <a:cs typeface="Clear Sans"/>
                  <a:sym typeface="Clear Sans"/>
                </a:rPr>
                <a:t>Virtual reality offers several </a:t>
              </a:r>
              <a:r>
                <a:rPr lang="en-US" sz="2399" b="1">
                  <a:solidFill>
                    <a:srgbClr val="D0E6FC"/>
                  </a:solidFill>
                  <a:latin typeface="Clear Sans Bold"/>
                  <a:ea typeface="Clear Sans Bold"/>
                  <a:cs typeface="Clear Sans Bold"/>
                  <a:sym typeface="Clear Sans Bold"/>
                </a:rPr>
                <a:t>significant advantages</a:t>
              </a:r>
              <a:r>
                <a:rPr lang="en-US" sz="2399">
                  <a:solidFill>
                    <a:srgbClr val="D0E6FC"/>
                  </a:solidFill>
                  <a:latin typeface="Clear Sans"/>
                  <a:ea typeface="Clear Sans"/>
                  <a:cs typeface="Clear Sans"/>
                  <a:sym typeface="Clear Sans"/>
                </a:rPr>
                <a:t>. It creates immersive experiences that capture users' attention and encourage interaction. VR's innovative technology facilitates unique learning opportunities, enabling users to explore environments that were once inaccessible. Its ability to simulate real-world scenarios enhances the educational experience, making it highly engaging and impactful.</a:t>
              </a:r>
            </a:p>
          </p:txBody>
        </p:sp>
      </p:grpSp>
      <p:grpSp>
        <p:nvGrpSpPr>
          <p:cNvPr id="5" name="Group 5"/>
          <p:cNvGrpSpPr/>
          <p:nvPr/>
        </p:nvGrpSpPr>
        <p:grpSpPr>
          <a:xfrm>
            <a:off x="9296400" y="1562100"/>
            <a:ext cx="6886575" cy="4183380"/>
            <a:chOff x="0" y="0"/>
            <a:chExt cx="9182100" cy="5577840"/>
          </a:xfrm>
        </p:grpSpPr>
        <p:sp>
          <p:nvSpPr>
            <p:cNvPr id="6" name="TextBox 6"/>
            <p:cNvSpPr txBox="1"/>
            <p:nvPr/>
          </p:nvSpPr>
          <p:spPr>
            <a:xfrm>
              <a:off x="0" y="0"/>
              <a:ext cx="9182100" cy="482600"/>
            </a:xfrm>
            <a:prstGeom prst="rect">
              <a:avLst/>
            </a:prstGeom>
          </p:spPr>
          <p:txBody>
            <a:bodyPr lIns="0" tIns="0" rIns="0" bIns="0" rtlCol="0" anchor="t">
              <a:spAutoFit/>
            </a:bodyPr>
            <a:lstStyle/>
            <a:p>
              <a:pPr marL="0" lvl="0" indent="0" algn="l">
                <a:lnSpc>
                  <a:spcPts val="2879"/>
                </a:lnSpc>
              </a:pPr>
              <a:r>
                <a:rPr lang="en-US" sz="2400" b="1">
                  <a:solidFill>
                    <a:srgbClr val="D0E6FC"/>
                  </a:solidFill>
                  <a:latin typeface="Clear Sans Bold"/>
                  <a:ea typeface="Clear Sans Bold"/>
                  <a:cs typeface="Clear Sans Bold"/>
                  <a:sym typeface="Clear Sans Bold"/>
                </a:rPr>
                <a:t>CONS OF VIRTUAL REALITY</a:t>
              </a:r>
            </a:p>
          </p:txBody>
        </p:sp>
        <p:sp>
          <p:nvSpPr>
            <p:cNvPr id="7" name="TextBox 7"/>
            <p:cNvSpPr txBox="1"/>
            <p:nvPr/>
          </p:nvSpPr>
          <p:spPr>
            <a:xfrm>
              <a:off x="0" y="1141095"/>
              <a:ext cx="9182100" cy="4436745"/>
            </a:xfrm>
            <a:prstGeom prst="rect">
              <a:avLst/>
            </a:prstGeom>
          </p:spPr>
          <p:txBody>
            <a:bodyPr lIns="0" tIns="0" rIns="0" bIns="0" rtlCol="0" anchor="t">
              <a:spAutoFit/>
            </a:bodyPr>
            <a:lstStyle/>
            <a:p>
              <a:pPr marL="0" lvl="0" indent="0" algn="l">
                <a:lnSpc>
                  <a:spcPts val="3359"/>
                </a:lnSpc>
              </a:pPr>
              <a:r>
                <a:rPr lang="en-US" sz="2399">
                  <a:solidFill>
                    <a:srgbClr val="D0E6FC"/>
                  </a:solidFill>
                  <a:latin typeface="Clear Sans"/>
                  <a:ea typeface="Clear Sans"/>
                  <a:cs typeface="Clear Sans"/>
                  <a:sym typeface="Clear Sans"/>
                </a:rPr>
                <a:t>Despite its benefits, VR also faces </a:t>
              </a:r>
              <a:r>
                <a:rPr lang="en-US" sz="2399" b="1">
                  <a:solidFill>
                    <a:srgbClr val="D0E6FC"/>
                  </a:solidFill>
                  <a:latin typeface="Clear Sans Bold"/>
                  <a:ea typeface="Clear Sans Bold"/>
                  <a:cs typeface="Clear Sans Bold"/>
                  <a:sym typeface="Clear Sans Bold"/>
                </a:rPr>
                <a:t>notable challenges</a:t>
              </a:r>
              <a:r>
                <a:rPr lang="en-US" sz="2399">
                  <a:solidFill>
                    <a:srgbClr val="D0E6FC"/>
                  </a:solidFill>
                  <a:latin typeface="Clear Sans"/>
                  <a:ea typeface="Clear Sans"/>
                  <a:cs typeface="Clear Sans"/>
                  <a:sym typeface="Clear Sans"/>
                </a:rPr>
                <a:t>. The high cost of equipment can limit access for many learners. Users may experience motion sickness during use, which can detract from the experience. Additionally, technical limitations and accessibility issues can hinder the widespread adoption of VR technologies in various settings.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2A6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6115050" cy="10287000"/>
            <a:chOff x="0" y="0"/>
            <a:chExt cx="757905" cy="1274980"/>
          </a:xfrm>
        </p:grpSpPr>
        <p:sp>
          <p:nvSpPr>
            <p:cNvPr id="3" name="Freeform 3"/>
            <p:cNvSpPr/>
            <p:nvPr/>
          </p:nvSpPr>
          <p:spPr>
            <a:xfrm>
              <a:off x="0" y="0"/>
              <a:ext cx="757905" cy="1274980"/>
            </a:xfrm>
            <a:custGeom>
              <a:avLst/>
              <a:gdLst/>
              <a:ahLst/>
              <a:cxnLst/>
              <a:rect l="l" t="t" r="r" b="b"/>
              <a:pathLst>
                <a:path w="757905" h="1274980">
                  <a:moveTo>
                    <a:pt x="0" y="0"/>
                  </a:moveTo>
                  <a:lnTo>
                    <a:pt x="757905" y="0"/>
                  </a:lnTo>
                  <a:lnTo>
                    <a:pt x="757905" y="1274980"/>
                  </a:lnTo>
                  <a:lnTo>
                    <a:pt x="0" y="1274980"/>
                  </a:lnTo>
                  <a:close/>
                </a:path>
              </a:pathLst>
            </a:custGeom>
            <a:blipFill>
              <a:blip r:embed="rId2"/>
              <a:stretch>
                <a:fillRect t="-58" b="-58"/>
              </a:stretch>
            </a:blipFill>
          </p:spPr>
        </p:sp>
      </p:grpSp>
      <p:grpSp>
        <p:nvGrpSpPr>
          <p:cNvPr id="4" name="Group 4"/>
          <p:cNvGrpSpPr/>
          <p:nvPr/>
        </p:nvGrpSpPr>
        <p:grpSpPr>
          <a:xfrm>
            <a:off x="7858125" y="1562100"/>
            <a:ext cx="8324850" cy="4290060"/>
            <a:chOff x="0" y="0"/>
            <a:chExt cx="11099800" cy="5720080"/>
          </a:xfrm>
        </p:grpSpPr>
        <p:sp>
          <p:nvSpPr>
            <p:cNvPr id="5" name="TextBox 5"/>
            <p:cNvSpPr txBox="1"/>
            <p:nvPr/>
          </p:nvSpPr>
          <p:spPr>
            <a:xfrm>
              <a:off x="0" y="3267075"/>
              <a:ext cx="11099800" cy="2453005"/>
            </a:xfrm>
            <a:prstGeom prst="rect">
              <a:avLst/>
            </a:prstGeom>
          </p:spPr>
          <p:txBody>
            <a:bodyPr lIns="0" tIns="0" rIns="0" bIns="0" rtlCol="0" anchor="t">
              <a:spAutoFit/>
            </a:bodyPr>
            <a:lstStyle/>
            <a:p>
              <a:pPr marL="0" lvl="0" indent="0" algn="l">
                <a:lnSpc>
                  <a:spcPts val="2940"/>
                </a:lnSpc>
              </a:pPr>
              <a:r>
                <a:rPr lang="en-US" sz="2100">
                  <a:solidFill>
                    <a:srgbClr val="D0E6FC"/>
                  </a:solidFill>
                  <a:latin typeface="Clear Sans"/>
                  <a:ea typeface="Clear Sans"/>
                  <a:cs typeface="Clear Sans"/>
                  <a:sym typeface="Clear Sans"/>
                </a:rPr>
                <a:t>Recent studies show that </a:t>
              </a:r>
              <a:r>
                <a:rPr lang="en-US" sz="2100" b="1">
                  <a:solidFill>
                    <a:srgbClr val="D0E6FC"/>
                  </a:solidFill>
                  <a:latin typeface="Clear Sans Bold"/>
                  <a:ea typeface="Clear Sans Bold"/>
                  <a:cs typeface="Clear Sans Bold"/>
                  <a:sym typeface="Clear Sans Bold"/>
                </a:rPr>
                <a:t>80% of users</a:t>
              </a:r>
              <a:r>
                <a:rPr lang="en-US" sz="2100">
                  <a:solidFill>
                    <a:srgbClr val="D0E6FC"/>
                  </a:solidFill>
                  <a:latin typeface="Clear Sans"/>
                  <a:ea typeface="Clear Sans"/>
                  <a:cs typeface="Clear Sans"/>
                  <a:sym typeface="Clear Sans"/>
                </a:rPr>
                <a:t> believe virtual reality enhances their learning experience. This high level of engagement indicates that VR not only captivates attention but also improves retention and understanding of complex concepts, making it a transformative tool in both educational and professional settings.</a:t>
              </a:r>
            </a:p>
          </p:txBody>
        </p:sp>
        <p:sp>
          <p:nvSpPr>
            <p:cNvPr id="6" name="TextBox 6"/>
            <p:cNvSpPr txBox="1"/>
            <p:nvPr/>
          </p:nvSpPr>
          <p:spPr>
            <a:xfrm>
              <a:off x="0" y="2120900"/>
              <a:ext cx="11099800" cy="482600"/>
            </a:xfrm>
            <a:prstGeom prst="rect">
              <a:avLst/>
            </a:prstGeom>
          </p:spPr>
          <p:txBody>
            <a:bodyPr lIns="0" tIns="0" rIns="0" bIns="0" rtlCol="0" anchor="t">
              <a:spAutoFit/>
            </a:bodyPr>
            <a:lstStyle/>
            <a:p>
              <a:pPr marL="0" lvl="0" indent="0" algn="l">
                <a:lnSpc>
                  <a:spcPts val="2879"/>
                </a:lnSpc>
                <a:spcBef>
                  <a:spcPct val="0"/>
                </a:spcBef>
              </a:pPr>
              <a:r>
                <a:rPr lang="en-US" sz="2400" b="1" u="none">
                  <a:solidFill>
                    <a:srgbClr val="D0E6FC"/>
                  </a:solidFill>
                  <a:latin typeface="Clear Sans Bold"/>
                  <a:ea typeface="Clear Sans Bold"/>
                  <a:cs typeface="Clear Sans Bold"/>
                  <a:sym typeface="Clear Sans Bold"/>
                </a:rPr>
                <a:t>ENGAGEMENT</a:t>
              </a:r>
            </a:p>
          </p:txBody>
        </p:sp>
        <p:sp>
          <p:nvSpPr>
            <p:cNvPr id="7" name="TextBox 7"/>
            <p:cNvSpPr txBox="1"/>
            <p:nvPr/>
          </p:nvSpPr>
          <p:spPr>
            <a:xfrm>
              <a:off x="0" y="0"/>
              <a:ext cx="11099800" cy="1409700"/>
            </a:xfrm>
            <a:prstGeom prst="rect">
              <a:avLst/>
            </a:prstGeom>
          </p:spPr>
          <p:txBody>
            <a:bodyPr lIns="0" tIns="0" rIns="0" bIns="0" rtlCol="0" anchor="t">
              <a:spAutoFit/>
            </a:bodyPr>
            <a:lstStyle/>
            <a:p>
              <a:pPr marL="0" lvl="0" indent="0" algn="l">
                <a:lnSpc>
                  <a:spcPts val="8399"/>
                </a:lnSpc>
              </a:pPr>
              <a:r>
                <a:rPr lang="en-US" sz="6999" spc="-139">
                  <a:solidFill>
                    <a:srgbClr val="D0E6FC"/>
                  </a:solidFill>
                  <a:latin typeface="Tenor Sans"/>
                  <a:ea typeface="Tenor Sans"/>
                  <a:cs typeface="Tenor Sans"/>
                  <a:sym typeface="Tenor Sans"/>
                </a:rPr>
                <a:t>80%</a:t>
              </a:r>
            </a:p>
          </p:txBody>
        </p:sp>
      </p:grpSp>
      <p:sp>
        <p:nvSpPr>
          <p:cNvPr id="8" name="Freeform 8"/>
          <p:cNvSpPr/>
          <p:nvPr/>
        </p:nvSpPr>
        <p:spPr>
          <a:xfrm rot="-6723923">
            <a:off x="13666568" y="-2297777"/>
            <a:ext cx="6274865" cy="4114800"/>
          </a:xfrm>
          <a:custGeom>
            <a:avLst/>
            <a:gdLst/>
            <a:ahLst/>
            <a:cxnLst/>
            <a:rect l="l" t="t" r="r" b="b"/>
            <a:pathLst>
              <a:path w="6274865" h="4114800">
                <a:moveTo>
                  <a:pt x="0" y="0"/>
                </a:moveTo>
                <a:lnTo>
                  <a:pt x="6274865" y="0"/>
                </a:lnTo>
                <a:lnTo>
                  <a:pt x="6274865" y="4114800"/>
                </a:lnTo>
                <a:lnTo>
                  <a:pt x="0" y="4114800"/>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F44"/>
        </a:solidFill>
        <a:effectLst/>
      </p:bgPr>
    </p:bg>
    <p:spTree>
      <p:nvGrpSpPr>
        <p:cNvPr id="1" name=""/>
        <p:cNvGrpSpPr/>
        <p:nvPr/>
      </p:nvGrpSpPr>
      <p:grpSpPr>
        <a:xfrm>
          <a:off x="0" y="0"/>
          <a:ext cx="0" cy="0"/>
          <a:chOff x="0" y="0"/>
          <a:chExt cx="0" cy="0"/>
        </a:xfrm>
      </p:grpSpPr>
      <p:sp>
        <p:nvSpPr>
          <p:cNvPr id="2" name="TextBox 2"/>
          <p:cNvSpPr txBox="1"/>
          <p:nvPr/>
        </p:nvSpPr>
        <p:spPr>
          <a:xfrm>
            <a:off x="666750" y="1562086"/>
            <a:ext cx="8324850" cy="2114550"/>
          </a:xfrm>
          <a:prstGeom prst="rect">
            <a:avLst/>
          </a:prstGeom>
        </p:spPr>
        <p:txBody>
          <a:bodyPr lIns="0" tIns="0" rIns="0" bIns="0" rtlCol="0" anchor="t">
            <a:spAutoFit/>
          </a:bodyPr>
          <a:lstStyle/>
          <a:p>
            <a:pPr marL="0" lvl="0" indent="0" algn="l">
              <a:lnSpc>
                <a:spcPts val="8399"/>
              </a:lnSpc>
            </a:pPr>
            <a:r>
              <a:rPr lang="en-US" sz="6999" spc="-139">
                <a:solidFill>
                  <a:srgbClr val="D0E6FC"/>
                </a:solidFill>
                <a:latin typeface="Tenor Sans"/>
                <a:ea typeface="Tenor Sans"/>
                <a:cs typeface="Tenor Sans"/>
                <a:sym typeface="Tenor Sans"/>
              </a:rPr>
              <a:t>Summary of Key Points</a:t>
            </a:r>
          </a:p>
        </p:txBody>
      </p:sp>
      <p:grpSp>
        <p:nvGrpSpPr>
          <p:cNvPr id="3" name="Group 3"/>
          <p:cNvGrpSpPr/>
          <p:nvPr/>
        </p:nvGrpSpPr>
        <p:grpSpPr>
          <a:xfrm>
            <a:off x="10734675" y="3352794"/>
            <a:ext cx="5448300" cy="5532693"/>
            <a:chOff x="0" y="0"/>
            <a:chExt cx="7264400" cy="7376924"/>
          </a:xfrm>
        </p:grpSpPr>
        <p:sp>
          <p:nvSpPr>
            <p:cNvPr id="4" name="TextBox 4"/>
            <p:cNvSpPr txBox="1"/>
            <p:nvPr/>
          </p:nvSpPr>
          <p:spPr>
            <a:xfrm>
              <a:off x="0" y="-47625"/>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0E6FC"/>
                  </a:solidFill>
                  <a:latin typeface="Clear Sans Medium"/>
                  <a:ea typeface="Clear Sans Medium"/>
                  <a:cs typeface="Clear Sans Medium"/>
                  <a:sym typeface="Clear Sans Medium"/>
                </a:rPr>
                <a:t>UNDERSTANDING VIRTUAL REALITY</a:t>
              </a:r>
            </a:p>
          </p:txBody>
        </p:sp>
        <p:sp>
          <p:nvSpPr>
            <p:cNvPr id="5" name="TextBox 5"/>
            <p:cNvSpPr txBox="1"/>
            <p:nvPr/>
          </p:nvSpPr>
          <p:spPr>
            <a:xfrm>
              <a:off x="0" y="878058"/>
              <a:ext cx="7264400" cy="2427320"/>
            </a:xfrm>
            <a:prstGeom prst="rect">
              <a:avLst/>
            </a:prstGeom>
          </p:spPr>
          <p:txBody>
            <a:bodyPr lIns="0" tIns="0" rIns="0" bIns="0" rtlCol="0" anchor="t">
              <a:spAutoFit/>
            </a:bodyPr>
            <a:lstStyle/>
            <a:p>
              <a:pPr marL="0" lvl="0" indent="0" algn="l">
                <a:lnSpc>
                  <a:spcPts val="2939"/>
                </a:lnSpc>
                <a:spcBef>
                  <a:spcPct val="0"/>
                </a:spcBef>
              </a:pPr>
              <a:r>
                <a:rPr lang="en-US" sz="2099">
                  <a:solidFill>
                    <a:srgbClr val="D0E6FC"/>
                  </a:solidFill>
                  <a:latin typeface="Clear Sans"/>
                  <a:ea typeface="Clear Sans"/>
                  <a:cs typeface="Clear Sans"/>
                  <a:sym typeface="Clear Sans"/>
                </a:rPr>
                <a:t>VR creates </a:t>
              </a:r>
              <a:r>
                <a:rPr lang="en-US" sz="2099" b="1">
                  <a:solidFill>
                    <a:srgbClr val="D0E6FC"/>
                  </a:solidFill>
                  <a:latin typeface="Clear Sans Bold"/>
                  <a:ea typeface="Clear Sans Bold"/>
                  <a:cs typeface="Clear Sans Bold"/>
                  <a:sym typeface="Clear Sans Bold"/>
                </a:rPr>
                <a:t>immersive simulated environments</a:t>
              </a:r>
              <a:r>
                <a:rPr lang="en-US" sz="2099">
                  <a:solidFill>
                    <a:srgbClr val="D0E6FC"/>
                  </a:solidFill>
                  <a:latin typeface="Clear Sans"/>
                  <a:ea typeface="Clear Sans"/>
                  <a:cs typeface="Clear Sans"/>
                  <a:sym typeface="Clear Sans"/>
                </a:rPr>
                <a:t> that enhance learning experiences across various fields like gaming, training, and education, revolutionizing how we interact.</a:t>
              </a:r>
            </a:p>
          </p:txBody>
        </p:sp>
        <p:sp>
          <p:nvSpPr>
            <p:cNvPr id="6" name="TextBox 6"/>
            <p:cNvSpPr txBox="1"/>
            <p:nvPr/>
          </p:nvSpPr>
          <p:spPr>
            <a:xfrm>
              <a:off x="0" y="4514084"/>
              <a:ext cx="7264400" cy="530032"/>
            </a:xfrm>
            <a:prstGeom prst="rect">
              <a:avLst/>
            </a:prstGeom>
          </p:spPr>
          <p:txBody>
            <a:bodyPr lIns="0" tIns="0" rIns="0" bIns="0" rtlCol="0" anchor="t">
              <a:spAutoFit/>
            </a:bodyPr>
            <a:lstStyle/>
            <a:p>
              <a:pPr marL="0" lvl="0" indent="0" algn="l">
                <a:lnSpc>
                  <a:spcPts val="3360"/>
                </a:lnSpc>
                <a:spcBef>
                  <a:spcPct val="0"/>
                </a:spcBef>
              </a:pPr>
              <a:r>
                <a:rPr lang="en-US" sz="2400" b="1">
                  <a:solidFill>
                    <a:srgbClr val="D0E6FC"/>
                  </a:solidFill>
                  <a:latin typeface="Clear Sans Medium"/>
                  <a:ea typeface="Clear Sans Medium"/>
                  <a:cs typeface="Clear Sans Medium"/>
                  <a:sym typeface="Clear Sans Medium"/>
                </a:rPr>
                <a:t>CHALLENGES AHEAD</a:t>
              </a:r>
            </a:p>
          </p:txBody>
        </p:sp>
        <p:sp>
          <p:nvSpPr>
            <p:cNvPr id="7" name="TextBox 7"/>
            <p:cNvSpPr txBox="1"/>
            <p:nvPr/>
          </p:nvSpPr>
          <p:spPr>
            <a:xfrm>
              <a:off x="0" y="5439766"/>
              <a:ext cx="7264400" cy="1937157"/>
            </a:xfrm>
            <a:prstGeom prst="rect">
              <a:avLst/>
            </a:prstGeom>
          </p:spPr>
          <p:txBody>
            <a:bodyPr lIns="0" tIns="0" rIns="0" bIns="0" rtlCol="0" anchor="t">
              <a:spAutoFit/>
            </a:bodyPr>
            <a:lstStyle/>
            <a:p>
              <a:pPr marL="0" lvl="0" indent="0" algn="l">
                <a:lnSpc>
                  <a:spcPts val="2939"/>
                </a:lnSpc>
                <a:spcBef>
                  <a:spcPct val="0"/>
                </a:spcBef>
              </a:pPr>
              <a:r>
                <a:rPr lang="en-US" sz="2099">
                  <a:solidFill>
                    <a:srgbClr val="D0E6FC"/>
                  </a:solidFill>
                  <a:latin typeface="Clear Sans"/>
                  <a:ea typeface="Clear Sans"/>
                  <a:cs typeface="Clear Sans"/>
                  <a:sym typeface="Clear Sans"/>
                </a:rPr>
                <a:t>While VR offers great benefits, it also presents </a:t>
              </a:r>
              <a:r>
                <a:rPr lang="en-US" sz="2099" b="1">
                  <a:solidFill>
                    <a:srgbClr val="D0E6FC"/>
                  </a:solidFill>
                  <a:latin typeface="Clear Sans Bold"/>
                  <a:ea typeface="Clear Sans Bold"/>
                  <a:cs typeface="Clear Sans Bold"/>
                  <a:sym typeface="Clear Sans Bold"/>
                </a:rPr>
                <a:t>challenges and limitations</a:t>
              </a:r>
              <a:r>
                <a:rPr lang="en-US" sz="2099">
                  <a:solidFill>
                    <a:srgbClr val="D0E6FC"/>
                  </a:solidFill>
                  <a:latin typeface="Clear Sans"/>
                  <a:ea typeface="Clear Sans"/>
                  <a:cs typeface="Clear Sans"/>
                  <a:sym typeface="Clear Sans"/>
                </a:rPr>
                <a:t>, including high costs and accessibility issues that need addressing for wider adoption.</a:t>
              </a:r>
            </a:p>
          </p:txBody>
        </p:sp>
      </p:grpSp>
      <p:sp>
        <p:nvSpPr>
          <p:cNvPr id="8" name="Freeform 8"/>
          <p:cNvSpPr/>
          <p:nvPr/>
        </p:nvSpPr>
        <p:spPr>
          <a:xfrm>
            <a:off x="-3137432" y="7200900"/>
            <a:ext cx="6274865" cy="4114800"/>
          </a:xfrm>
          <a:custGeom>
            <a:avLst/>
            <a:gdLst/>
            <a:ahLst/>
            <a:cxnLst/>
            <a:rect l="l" t="t" r="r" b="b"/>
            <a:pathLst>
              <a:path w="6274865" h="4114800">
                <a:moveTo>
                  <a:pt x="0" y="0"/>
                </a:moveTo>
                <a:lnTo>
                  <a:pt x="6274864" y="0"/>
                </a:lnTo>
                <a:lnTo>
                  <a:pt x="6274864" y="4114800"/>
                </a:lnTo>
                <a:lnTo>
                  <a:pt x="0" y="41148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2A6A"/>
        </a:solidFill>
        <a:effectLst/>
      </p:bgPr>
    </p:bg>
    <p:spTree>
      <p:nvGrpSpPr>
        <p:cNvPr id="1" name=""/>
        <p:cNvGrpSpPr/>
        <p:nvPr/>
      </p:nvGrpSpPr>
      <p:grpSpPr>
        <a:xfrm>
          <a:off x="0" y="0"/>
          <a:ext cx="0" cy="0"/>
          <a:chOff x="0" y="0"/>
          <a:chExt cx="0" cy="0"/>
        </a:xfrm>
      </p:grpSpPr>
      <p:sp>
        <p:nvSpPr>
          <p:cNvPr id="3" name="Freeform 3"/>
          <p:cNvSpPr/>
          <p:nvPr/>
        </p:nvSpPr>
        <p:spPr>
          <a:xfrm rot="5111384">
            <a:off x="13680135" y="1098024"/>
            <a:ext cx="12122938" cy="11672351"/>
          </a:xfrm>
          <a:custGeom>
            <a:avLst/>
            <a:gdLst/>
            <a:ahLst/>
            <a:cxnLst/>
            <a:rect l="l" t="t" r="r" b="b"/>
            <a:pathLst>
              <a:path w="12122938" h="11672351">
                <a:moveTo>
                  <a:pt x="0" y="0"/>
                </a:moveTo>
                <a:lnTo>
                  <a:pt x="12122939" y="0"/>
                </a:lnTo>
                <a:lnTo>
                  <a:pt x="12122939" y="11672352"/>
                </a:lnTo>
                <a:lnTo>
                  <a:pt x="0" y="11672352"/>
                </a:lnTo>
                <a:lnTo>
                  <a:pt x="0" y="0"/>
                </a:lnTo>
                <a:close/>
              </a:path>
            </a:pathLst>
          </a:custGeom>
          <a:blipFill>
            <a:blip r:embed="rId2">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495800" y="3991430"/>
            <a:ext cx="11201400" cy="1077218"/>
          </a:xfrm>
          <a:prstGeom prst="rect">
            <a:avLst/>
          </a:prstGeom>
        </p:spPr>
        <p:txBody>
          <a:bodyPr lIns="0" tIns="0" rIns="0" bIns="0" rtlCol="0" anchor="t">
            <a:spAutoFit/>
          </a:bodyPr>
          <a:lstStyle/>
          <a:p>
            <a:pPr marL="0" lvl="0" indent="0" algn="l">
              <a:lnSpc>
                <a:spcPts val="8399"/>
              </a:lnSpc>
            </a:pPr>
            <a:r>
              <a:rPr lang="en-US" sz="6999" spc="-139" dirty="0" smtClean="0">
                <a:solidFill>
                  <a:srgbClr val="D0E6FC"/>
                </a:solidFill>
                <a:latin typeface="Tenor Sans"/>
                <a:ea typeface="Tenor Sans"/>
                <a:cs typeface="Tenor Sans"/>
                <a:sym typeface="Tenor Sans"/>
              </a:rPr>
              <a:t> </a:t>
            </a:r>
            <a:r>
              <a:rPr lang="en-US" sz="9600" spc="-139" dirty="0">
                <a:solidFill>
                  <a:srgbClr val="D0E6FC"/>
                </a:solidFill>
                <a:latin typeface="Tenor Sans"/>
                <a:ea typeface="Tenor Sans"/>
                <a:cs typeface="Tenor Sans"/>
                <a:sym typeface="Tenor Sans"/>
              </a:rPr>
              <a:t>Thank You</a:t>
            </a:r>
          </a:p>
        </p:txBody>
      </p:sp>
      <p:grpSp>
        <p:nvGrpSpPr>
          <p:cNvPr id="5" name="Group 5"/>
          <p:cNvGrpSpPr/>
          <p:nvPr/>
        </p:nvGrpSpPr>
        <p:grpSpPr>
          <a:xfrm>
            <a:off x="666750" y="5143500"/>
            <a:ext cx="8324850" cy="3465218"/>
            <a:chOff x="0" y="0"/>
            <a:chExt cx="11099800" cy="4620291"/>
          </a:xfrm>
        </p:grpSpPr>
        <p:sp>
          <p:nvSpPr>
            <p:cNvPr id="6" name="TextBox 6"/>
            <p:cNvSpPr txBox="1"/>
            <p:nvPr/>
          </p:nvSpPr>
          <p:spPr>
            <a:xfrm>
              <a:off x="0" y="-76200"/>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u="none" dirty="0">
                <a:solidFill>
                  <a:srgbClr val="D0E6FC"/>
                </a:solidFill>
                <a:latin typeface="Clear Sans Bold"/>
                <a:ea typeface="Clear Sans Bold"/>
                <a:cs typeface="Clear Sans Bold"/>
                <a:sym typeface="Clear Sans Bold"/>
              </a:endParaRPr>
            </a:p>
          </p:txBody>
        </p:sp>
        <p:sp>
          <p:nvSpPr>
            <p:cNvPr id="7" name="TextBox 7"/>
            <p:cNvSpPr txBox="1"/>
            <p:nvPr/>
          </p:nvSpPr>
          <p:spPr>
            <a:xfrm>
              <a:off x="0" y="567135"/>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u="none" dirty="0">
                <a:solidFill>
                  <a:srgbClr val="D0E6FC"/>
                </a:solidFill>
                <a:latin typeface="Clear Sans"/>
                <a:ea typeface="Clear Sans"/>
                <a:cs typeface="Clear Sans"/>
                <a:sym typeface="Clear Sans"/>
              </a:endParaRPr>
            </a:p>
          </p:txBody>
        </p:sp>
        <p:sp>
          <p:nvSpPr>
            <p:cNvPr id="8" name="TextBox 8"/>
            <p:cNvSpPr txBox="1"/>
            <p:nvPr/>
          </p:nvSpPr>
          <p:spPr>
            <a:xfrm>
              <a:off x="0" y="1714475"/>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dirty="0">
                <a:solidFill>
                  <a:srgbClr val="D0E6FC"/>
                </a:solidFill>
                <a:latin typeface="Clear Sans Bold"/>
                <a:ea typeface="Clear Sans Bold"/>
                <a:cs typeface="Clear Sans Bold"/>
                <a:sym typeface="Clear Sans Bold"/>
              </a:endParaRPr>
            </a:p>
          </p:txBody>
        </p:sp>
        <p:sp>
          <p:nvSpPr>
            <p:cNvPr id="9" name="TextBox 9"/>
            <p:cNvSpPr txBox="1"/>
            <p:nvPr/>
          </p:nvSpPr>
          <p:spPr>
            <a:xfrm>
              <a:off x="0" y="2357810"/>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dirty="0">
                <a:solidFill>
                  <a:srgbClr val="D0E6FC"/>
                </a:solidFill>
                <a:latin typeface="Clear Sans"/>
                <a:ea typeface="Clear Sans"/>
                <a:cs typeface="Clear Sans"/>
                <a:sym typeface="Clear Sans"/>
              </a:endParaRPr>
            </a:p>
          </p:txBody>
        </p:sp>
        <p:sp>
          <p:nvSpPr>
            <p:cNvPr id="10" name="TextBox 10"/>
            <p:cNvSpPr txBox="1"/>
            <p:nvPr/>
          </p:nvSpPr>
          <p:spPr>
            <a:xfrm>
              <a:off x="0" y="3505150"/>
              <a:ext cx="11099800" cy="563880"/>
            </a:xfrm>
            <a:prstGeom prst="rect">
              <a:avLst/>
            </a:prstGeom>
          </p:spPr>
          <p:txBody>
            <a:bodyPr lIns="0" tIns="0" rIns="0" bIns="0" rtlCol="0" anchor="t">
              <a:spAutoFit/>
            </a:bodyPr>
            <a:lstStyle/>
            <a:p>
              <a:pPr marL="0" lvl="0" indent="0" algn="l">
                <a:lnSpc>
                  <a:spcPts val="3600"/>
                </a:lnSpc>
                <a:spcBef>
                  <a:spcPct val="0"/>
                </a:spcBef>
              </a:pPr>
              <a:endParaRPr lang="en-US" sz="2400" b="1" dirty="0">
                <a:solidFill>
                  <a:srgbClr val="D0E6FC"/>
                </a:solidFill>
                <a:latin typeface="Clear Sans Bold"/>
                <a:ea typeface="Clear Sans Bold"/>
                <a:cs typeface="Clear Sans Bold"/>
                <a:sym typeface="Clear Sans Bold"/>
              </a:endParaRPr>
            </a:p>
          </p:txBody>
        </p:sp>
        <p:sp>
          <p:nvSpPr>
            <p:cNvPr id="11" name="TextBox 11"/>
            <p:cNvSpPr txBox="1"/>
            <p:nvPr/>
          </p:nvSpPr>
          <p:spPr>
            <a:xfrm>
              <a:off x="0" y="4148486"/>
              <a:ext cx="11099800" cy="471805"/>
            </a:xfrm>
            <a:prstGeom prst="rect">
              <a:avLst/>
            </a:prstGeom>
          </p:spPr>
          <p:txBody>
            <a:bodyPr lIns="0" tIns="0" rIns="0" bIns="0" rtlCol="0" anchor="t">
              <a:spAutoFit/>
            </a:bodyPr>
            <a:lstStyle/>
            <a:p>
              <a:pPr marL="0" lvl="0" indent="0" algn="l">
                <a:lnSpc>
                  <a:spcPts val="2940"/>
                </a:lnSpc>
                <a:spcBef>
                  <a:spcPct val="0"/>
                </a:spcBef>
              </a:pPr>
              <a:endParaRPr lang="en-US" sz="2100" dirty="0">
                <a:solidFill>
                  <a:srgbClr val="D0E6FC"/>
                </a:solidFill>
                <a:latin typeface="Clear Sans"/>
                <a:ea typeface="Clear Sans"/>
                <a:cs typeface="Clear Sans"/>
                <a:sym typeface="Clear Sans"/>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480</Words>
  <Application>Microsoft Office PowerPoint</Application>
  <PresentationFormat>Custom</PresentationFormat>
  <Paragraphs>41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Clear Sans Bold</vt:lpstr>
      <vt:lpstr>Tenor Sans</vt:lpstr>
      <vt:lpstr>Calibri</vt:lpstr>
      <vt:lpstr>Clear Sans Medium</vt:lpstr>
      <vt:lpstr>Clear Sans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Virtual Reality (VR)</dc:title>
  <dc:creator>User</dc:creator>
  <dc:description>Presentation - Virtual Reality (VR)</dc:description>
  <cp:lastModifiedBy>Microsoft account</cp:lastModifiedBy>
  <cp:revision>2</cp:revision>
  <dcterms:created xsi:type="dcterms:W3CDTF">2006-08-16T00:00:00Z</dcterms:created>
  <dcterms:modified xsi:type="dcterms:W3CDTF">2026-02-04T14:25:46Z</dcterms:modified>
  <dc:identifier>DAHAXpqdOFg</dc:identifier>
</cp:coreProperties>
</file>